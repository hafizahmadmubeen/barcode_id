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the project in one sentence: we compared a classic phylogenetic tree with machine-learning classifiers for identifying dragonflies and damselflies from DNA barcodes, and focused on what happens when the species is not in the reference database.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Reference databases are never complete. Most studies only test species that are in the database. We test both: Condition A, every test species is in the database; Condition B, some species are removed entirely. A safe method says 'unknown' or at least the right genus. A dangerous method confidently names the wrong species.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came from BOLD Systems, the public barcode database. All Odonata was far too large, so we took two families with many close relatives, from 30 European countries. Cleaning was logged at every step: from 4,477 raw records to 779 clean, unique barcodes of 45 species. We removed mislabels, trimmed overlong sequences, removed duplicates and 7 likely contaminants, and kept species with at least 3 sequences.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methods, all given exactly the same queries. The NJ tree uses an explicit rule we fixed in advance; its only way to abstain is 'ambiguous'. k-NN and random forest use k-mer frequencies, the counts of short letter patterns, and get an 'unknown' threshold calibrated on training data only: flag a query when the model is less confident than for 95% of known species. Best close match is the classic barcoding rule from Meier et al. 2006, added to test whether any advantage is machine learning or just the cut-off.</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Condition A: a 70/30 split within each species, 543 training and 236 test sequences. Condition B: one species per genus removed from training, 139 unknown queries. Then two robustness checks: three more random splits, and the strongest one, holding out every one of the 39 eligible species on its own, with a new tree and retrained models each time, so the result cannot depend on a lucky choice of species.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species that ARE in the database, everything works about equally well: the NJ tree 92.4%, k-NN 93.2%, random forest 92.4%. The statistics say these differences are noise: Holm-corrected McNemar p = 1.0. The dots are the three replicate splits. Every remaining error is between species that share the same barcode.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species is missing from the database. Read the colours: green is safe, yellow a wrong species in the right genus, red a wrong genus. The NJ tree named a wrong species for 67% of unknown queries. Without a threshold the classifiers always name a known species, and random forest even picks the wrong genus. With the calibrated threshold, k-NN flagged every unknown query and still gave the correct genus.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that just a lucky choice of 8 species? We removed every one of the 39 eligible species on its own. Averaged over species, the tree wrongly named the missing species 67% of the time, k-NN 14%. For the 29 species that do not share their barcode, k-NN never named a wrong species, not for a single query, and still gave the correct genus 99% of the time. The tree even put two species into the wrong genus.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do even the good methods sometimes fail? 10 species share their barcode with a close relative; BOLD puts them in the same BIN. If a missing species looks exactly like one in the database, no method using the barcode alone can tell it is missing. Remove those species and the failures of k-NN disappear completely. This is a limit of the barcode, not of the method.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it machine learning that makes k-NN safe? We tested the classic best-close-match rule with the same kind of cut-off: it also flagged 100% of unknown species. So the safety comes from having a calibrated distance cut-off. What k-NN adds is that it loses fewer known species at the same safety: 88% correct versus 77%.</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Speed, measured on the same laptop for the same 236 queries: the tree pipeline takes 868 ms per query, k-NN 3.3 ms, about 264 times faster. The tree has no training, but it must be rebuilt with all reference barcodes whenever new queries arrive, and that cost grows steeply with the database. Training a classifier takes about one second.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honest about the limits. One group, one gene, one region. A small dataset. Barcode sharing that no barcode-only method can solve. And the comparison is not perfectly like-for-like: we gave the tree no extra 'unknown' threshold, on purpose, to test the method as usually applied. A distance threshold on the tree could make it safer.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one-sentence answer, and the practical advice: for identification, use a distance-aware method with a calibrated 'unknown' threshold, such as k-NN, rather than reading a species name off a tree; report barcode-sharing groups at genus level. Then invite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3B40"/>
        </a:solidFill>
        <a:effectLst/>
      </p:bgPr>
    </p:bg>
    <p:spTree>
      <p:nvGrpSpPr>
        <p:cNvPr id="1" name=""/>
        <p:cNvGrpSpPr/>
        <p:nvPr/>
      </p:nvGrpSpPr>
      <p:grpSpPr/>
      <p:sp>
        <p:nvSpPr>
          <p:cNvPr id="2" name="TextBox 1"/>
          <p:cNvSpPr txBox="1"/>
          <p:nvPr/>
        </p:nvSpPr>
        <p:spPr>
          <a:xfrm>
            <a:off x="822960" y="1463040"/>
            <a:ext cx="10058400" cy="1097280"/>
          </a:xfrm>
          <a:prstGeom prst="rect">
            <a:avLst/>
          </a:prstGeom>
          <a:noFill/>
        </p:spPr>
        <p:txBody>
          <a:bodyPr wrap="square" anchor="t" lIns="0" rIns="0" tIns="0" bIns="0">
            <a:spAutoFit/>
          </a:bodyPr>
          <a:lstStyle/>
          <a:p>
            <a:pPr algn="l">
              <a:spcAft>
                <a:spcPts val="2700"/>
              </a:spcAft>
            </a:pPr>
            <a:r>
              <a:rPr sz="6000" b="1" i="0">
                <a:solidFill>
                  <a:srgbClr val="FFFFFF"/>
                </a:solidFill>
                <a:latin typeface="Cambria"/>
              </a:rPr>
              <a:t>BarcodeID</a:t>
            </a:r>
          </a:p>
        </p:txBody>
      </p:sp>
      <p:sp>
        <p:nvSpPr>
          <p:cNvPr id="3" name="TextBox 2"/>
          <p:cNvSpPr txBox="1"/>
          <p:nvPr/>
        </p:nvSpPr>
        <p:spPr>
          <a:xfrm>
            <a:off x="822960" y="2606040"/>
            <a:ext cx="10058400" cy="1097280"/>
          </a:xfrm>
          <a:prstGeom prst="rect">
            <a:avLst/>
          </a:prstGeom>
          <a:noFill/>
        </p:spPr>
        <p:txBody>
          <a:bodyPr wrap="square" anchor="t" lIns="0" rIns="0" tIns="0" bIns="0">
            <a:spAutoFit/>
          </a:bodyPr>
          <a:lstStyle/>
          <a:p>
            <a:pPr algn="l">
              <a:spcAft>
                <a:spcPts val="1170"/>
              </a:spcAft>
            </a:pPr>
            <a:r>
              <a:rPr sz="2600" b="0" i="0">
                <a:solidFill>
                  <a:srgbClr val="FFFFFF"/>
                </a:solidFill>
                <a:latin typeface="Cambria"/>
              </a:rPr>
              <a:t>Machine learning vs phylogenetic trees for DNA barcode species identification</a:t>
            </a:r>
          </a:p>
        </p:txBody>
      </p:sp>
      <p:sp>
        <p:nvSpPr>
          <p:cNvPr id="4" name="TextBox 3"/>
          <p:cNvSpPr txBox="1"/>
          <p:nvPr/>
        </p:nvSpPr>
        <p:spPr>
          <a:xfrm>
            <a:off x="822960" y="3794760"/>
            <a:ext cx="10058400" cy="548640"/>
          </a:xfrm>
          <a:prstGeom prst="rect">
            <a:avLst/>
          </a:prstGeom>
          <a:noFill/>
        </p:spPr>
        <p:txBody>
          <a:bodyPr wrap="square" anchor="t" lIns="0" rIns="0" tIns="0" bIns="0">
            <a:spAutoFit/>
          </a:bodyPr>
          <a:lstStyle/>
          <a:p>
            <a:pPr algn="l">
              <a:spcAft>
                <a:spcPts val="900"/>
              </a:spcAft>
            </a:pPr>
            <a:r>
              <a:rPr sz="2000" b="0" i="1">
                <a:solidFill>
                  <a:srgbClr val="E09F1F"/>
                </a:solidFill>
                <a:latin typeface="Calibri"/>
              </a:rPr>
              <a:t>What happens when the species is not in the database?</a:t>
            </a:r>
          </a:p>
        </p:txBody>
      </p:sp>
      <p:sp>
        <p:nvSpPr>
          <p:cNvPr id="5" name="TextBox 4"/>
          <p:cNvSpPr txBox="1"/>
          <p:nvPr/>
        </p:nvSpPr>
        <p:spPr>
          <a:xfrm>
            <a:off x="822960" y="5120640"/>
            <a:ext cx="10058400" cy="914400"/>
          </a:xfrm>
          <a:prstGeom prst="rect">
            <a:avLst/>
          </a:prstGeom>
          <a:noFill/>
        </p:spPr>
        <p:txBody>
          <a:bodyPr wrap="square" anchor="t" lIns="0" rIns="0" tIns="0" bIns="0">
            <a:spAutoFit/>
          </a:bodyPr>
          <a:lstStyle/>
          <a:p>
            <a:pPr algn="l">
              <a:spcAft>
                <a:spcPts val="675"/>
              </a:spcAft>
            </a:pPr>
            <a:r>
              <a:rPr sz="1500" b="0" i="0">
                <a:solidFill>
                  <a:srgbClr val="FFFFFF"/>
                </a:solidFill>
                <a:latin typeface="Calibri"/>
              </a:rPr>
              <a:t>European dragonflies and damselflies (Odonata) · COI barcodes from BOLD</a:t>
            </a:r>
          </a:p>
          <a:p>
            <a:pPr algn="l">
              <a:spcAft>
                <a:spcPts val="675"/>
              </a:spcAft>
            </a:pPr>
            <a:r>
              <a:rPr sz="1500" b="0" i="0">
                <a:solidFill>
                  <a:srgbClr val="FFFFFF"/>
                </a:solidFill>
                <a:latin typeface="Calibri"/>
              </a:rPr>
              <a:t>Project team: Data &amp; Phylogenetics · Machine Learning · Experiments &amp; Report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277295" y="6400800"/>
            <a:ext cx="457200" cy="274320"/>
          </a:xfrm>
          <a:prstGeom prst="rect">
            <a:avLst/>
          </a:prstGeom>
          <a:noFill/>
        </p:spPr>
        <p:txBody>
          <a:bodyPr wrap="square" anchor="t" lIns="0" rIns="0" tIns="0" bIns="0">
            <a:spAutoFit/>
          </a:bodyPr>
          <a:lstStyle/>
          <a:p>
            <a:pPr algn="r">
              <a:spcAft>
                <a:spcPts val="450"/>
              </a:spcAft>
            </a:pPr>
            <a:r>
              <a:rPr sz="1000" b="0" i="0">
                <a:solidFill>
                  <a:srgbClr val="5A5A55"/>
                </a:solidFill>
                <a:latin typeface="Calibri"/>
              </a:rPr>
              <a:t>2</a:t>
            </a:r>
          </a:p>
        </p:txBody>
      </p:sp>
      <p:sp>
        <p:nvSpPr>
          <p:cNvPr id="3" name="TextBox 2"/>
          <p:cNvSpPr txBox="1"/>
          <p:nvPr/>
        </p:nvSpPr>
        <p:spPr>
          <a:xfrm>
            <a:off x="548640" y="411480"/>
            <a:ext cx="11094415" cy="822960"/>
          </a:xfrm>
          <a:prstGeom prst="rect">
            <a:avLst/>
          </a:prstGeom>
          <a:noFill/>
        </p:spPr>
        <p:txBody>
          <a:bodyPr wrap="square" anchor="t" lIns="0" rIns="0" tIns="0" bIns="0">
            <a:spAutoFit/>
          </a:bodyPr>
          <a:lstStyle/>
          <a:p>
            <a:pPr algn="l">
              <a:spcAft>
                <a:spcPts val="1530"/>
              </a:spcAft>
            </a:pPr>
            <a:r>
              <a:rPr sz="3400" b="1" i="0">
                <a:solidFill>
                  <a:srgbClr val="0F3B40"/>
                </a:solidFill>
                <a:latin typeface="Cambria"/>
              </a:rPr>
              <a:t>The question: which method can you trust?</a:t>
            </a:r>
          </a:p>
        </p:txBody>
      </p:sp>
      <p:sp>
        <p:nvSpPr>
          <p:cNvPr id="4" name="TextBox 3"/>
          <p:cNvSpPr txBox="1"/>
          <p:nvPr/>
        </p:nvSpPr>
        <p:spPr>
          <a:xfrm>
            <a:off x="548640" y="1325880"/>
            <a:ext cx="11064240" cy="822960"/>
          </a:xfrm>
          <a:prstGeom prst="rect">
            <a:avLst/>
          </a:prstGeom>
          <a:noFill/>
        </p:spPr>
        <p:txBody>
          <a:bodyPr wrap="square" anchor="t" lIns="0" rIns="0" tIns="0" bIns="0">
            <a:spAutoFit/>
          </a:bodyPr>
          <a:lstStyle/>
          <a:p>
            <a:pPr algn="l">
              <a:spcAft>
                <a:spcPts val="810"/>
              </a:spcAft>
            </a:pPr>
            <a:r>
              <a:rPr sz="1800" b="0" i="0">
                <a:solidFill>
                  <a:srgbClr val="5A5A55"/>
                </a:solidFill>
                <a:latin typeface="Calibri"/>
              </a:rPr>
              <a:t>A barcode is a ~650-letter piece of the COI gene. We identify a specimen by comparing it with reference barcodes of known species, but reference databases are never complete.</a:t>
            </a:r>
          </a:p>
        </p:txBody>
      </p:sp>
      <p:sp>
        <p:nvSpPr>
          <p:cNvPr id="5" name="Rounded Rectangle 4"/>
          <p:cNvSpPr/>
          <p:nvPr/>
        </p:nvSpPr>
        <p:spPr>
          <a:xfrm>
            <a:off x="548640" y="2468880"/>
            <a:ext cx="5349240" cy="1920240"/>
          </a:xfrm>
          <a:prstGeom prst="roundRect">
            <a:avLst>
              <a:gd name="adj" fmla="val 8000"/>
            </a:avLst>
          </a:prstGeom>
          <a:solidFill>
            <a:srgbClr val="E6F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2697480"/>
            <a:ext cx="566928" cy="566928"/>
          </a:xfrm>
          <a:prstGeom prst="ellipse">
            <a:avLst/>
          </a:prstGeom>
          <a:solidFill>
            <a:srgbClr val="0F3B4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mbria"/>
              </a:rPr>
              <a:t>A</a:t>
            </a:r>
          </a:p>
        </p:txBody>
      </p:sp>
      <p:sp>
        <p:nvSpPr>
          <p:cNvPr id="7" name="TextBox 6"/>
          <p:cNvSpPr txBox="1"/>
          <p:nvPr/>
        </p:nvSpPr>
        <p:spPr>
          <a:xfrm>
            <a:off x="1645919" y="2724912"/>
            <a:ext cx="4023360" cy="457200"/>
          </a:xfrm>
          <a:prstGeom prst="rect">
            <a:avLst/>
          </a:prstGeom>
          <a:noFill/>
        </p:spPr>
        <p:txBody>
          <a:bodyPr wrap="square" anchor="t" lIns="0" rIns="0" tIns="0" bIns="0">
            <a:spAutoFit/>
          </a:bodyPr>
          <a:lstStyle/>
          <a:p>
            <a:pPr algn="l">
              <a:spcAft>
                <a:spcPts val="900"/>
              </a:spcAft>
            </a:pPr>
            <a:r>
              <a:rPr sz="2000" b="1" i="0">
                <a:solidFill>
                  <a:srgbClr val="0F3B40"/>
                </a:solidFill>
                <a:latin typeface="Calibri"/>
              </a:rPr>
              <a:t>Condition A: full coverage</a:t>
            </a:r>
          </a:p>
        </p:txBody>
      </p:sp>
      <p:sp>
        <p:nvSpPr>
          <p:cNvPr id="8" name="TextBox 7"/>
          <p:cNvSpPr txBox="1"/>
          <p:nvPr/>
        </p:nvSpPr>
        <p:spPr>
          <a:xfrm>
            <a:off x="1645919" y="3246120"/>
            <a:ext cx="4023360" cy="1005840"/>
          </a:xfrm>
          <a:prstGeom prst="rect">
            <a:avLst/>
          </a:prstGeom>
          <a:noFill/>
        </p:spPr>
        <p:txBody>
          <a:bodyPr wrap="square" anchor="t" lIns="0" rIns="0" tIns="0" bIns="0">
            <a:spAutoFit/>
          </a:bodyPr>
          <a:lstStyle/>
          <a:p>
            <a:pPr algn="l">
              <a:spcAft>
                <a:spcPts val="720"/>
              </a:spcAft>
            </a:pPr>
            <a:r>
              <a:rPr sz="1600" b="0" i="0">
                <a:solidFill>
                  <a:srgbClr val="1A1A1A"/>
                </a:solidFill>
                <a:latin typeface="Calibri"/>
              </a:rPr>
              <a:t>Every test species is in the reference database. The usual benchmark.</a:t>
            </a:r>
          </a:p>
        </p:txBody>
      </p:sp>
      <p:sp>
        <p:nvSpPr>
          <p:cNvPr id="9" name="Rounded Rectangle 8"/>
          <p:cNvSpPr/>
          <p:nvPr/>
        </p:nvSpPr>
        <p:spPr>
          <a:xfrm>
            <a:off x="6263640" y="2468880"/>
            <a:ext cx="5349240" cy="1920240"/>
          </a:xfrm>
          <a:prstGeom prst="roundRect">
            <a:avLst>
              <a:gd name="adj" fmla="val 8000"/>
            </a:avLst>
          </a:prstGeom>
          <a:solidFill>
            <a:srgbClr val="FBF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83679" y="2697480"/>
            <a:ext cx="566928" cy="566928"/>
          </a:xfrm>
          <a:prstGeom prst="ellipse">
            <a:avLst/>
          </a:prstGeom>
          <a:solidFill>
            <a:srgbClr val="E09F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mbria"/>
              </a:rPr>
              <a:t>B</a:t>
            </a:r>
          </a:p>
        </p:txBody>
      </p:sp>
      <p:sp>
        <p:nvSpPr>
          <p:cNvPr id="11" name="TextBox 10"/>
          <p:cNvSpPr txBox="1"/>
          <p:nvPr/>
        </p:nvSpPr>
        <p:spPr>
          <a:xfrm>
            <a:off x="7360919" y="2724912"/>
            <a:ext cx="4023360" cy="457200"/>
          </a:xfrm>
          <a:prstGeom prst="rect">
            <a:avLst/>
          </a:prstGeom>
          <a:noFill/>
        </p:spPr>
        <p:txBody>
          <a:bodyPr wrap="square" anchor="t" lIns="0" rIns="0" tIns="0" bIns="0">
            <a:spAutoFit/>
          </a:bodyPr>
          <a:lstStyle/>
          <a:p>
            <a:pPr algn="l">
              <a:spcAft>
                <a:spcPts val="900"/>
              </a:spcAft>
            </a:pPr>
            <a:r>
              <a:rPr sz="2000" b="1" i="0">
                <a:solidFill>
                  <a:srgbClr val="0F3B40"/>
                </a:solidFill>
                <a:latin typeface="Calibri"/>
              </a:rPr>
              <a:t>Condition B: incomplete coverage</a:t>
            </a:r>
          </a:p>
        </p:txBody>
      </p:sp>
      <p:sp>
        <p:nvSpPr>
          <p:cNvPr id="12" name="TextBox 11"/>
          <p:cNvSpPr txBox="1"/>
          <p:nvPr/>
        </p:nvSpPr>
        <p:spPr>
          <a:xfrm>
            <a:off x="7360919" y="3246120"/>
            <a:ext cx="4023360" cy="1005840"/>
          </a:xfrm>
          <a:prstGeom prst="rect">
            <a:avLst/>
          </a:prstGeom>
          <a:noFill/>
        </p:spPr>
        <p:txBody>
          <a:bodyPr wrap="square" anchor="t" lIns="0" rIns="0" tIns="0" bIns="0">
            <a:spAutoFit/>
          </a:bodyPr>
          <a:lstStyle/>
          <a:p>
            <a:pPr algn="l">
              <a:spcAft>
                <a:spcPts val="720"/>
              </a:spcAft>
            </a:pPr>
            <a:r>
              <a:rPr sz="1600" b="0" i="0">
                <a:solidFill>
                  <a:srgbClr val="1A1A1A"/>
                </a:solidFill>
                <a:latin typeface="Calibri"/>
              </a:rPr>
              <a:t>Some species are removed from the database entirely, then queried as 'unknown'. This is our focus.</a:t>
            </a:r>
          </a:p>
        </p:txBody>
      </p:sp>
      <p:sp>
        <p:nvSpPr>
          <p:cNvPr id="13" name="TextBox 12"/>
          <p:cNvSpPr txBox="1"/>
          <p:nvPr/>
        </p:nvSpPr>
        <p:spPr>
          <a:xfrm>
            <a:off x="548640" y="4800600"/>
            <a:ext cx="11064240" cy="1097280"/>
          </a:xfrm>
          <a:prstGeom prst="rect">
            <a:avLst/>
          </a:prstGeom>
          <a:noFill/>
        </p:spPr>
        <p:txBody>
          <a:bodyPr wrap="square" anchor="t" lIns="0" rIns="0" tIns="0" bIns="0">
            <a:spAutoFit/>
          </a:bodyPr>
          <a:lstStyle/>
          <a:p>
            <a:pPr algn="l">
              <a:spcAft>
                <a:spcPts val="810"/>
              </a:spcAft>
            </a:pPr>
            <a:r>
              <a:rPr sz="1800" b="1" i="0">
                <a:solidFill>
                  <a:srgbClr val="0C8A0C"/>
                </a:solidFill>
                <a:latin typeface="Calibri"/>
              </a:rPr>
              <a:t>Fails safely: </a:t>
            </a:r>
            <a:r>
              <a:rPr sz="1800" b="0" i="0">
                <a:solidFill>
                  <a:srgbClr val="1A1A1A"/>
                </a:solidFill>
                <a:latin typeface="Calibri"/>
              </a:rPr>
              <a:t>says 'unknown', or at least names the right genus</a:t>
            </a:r>
          </a:p>
          <a:p>
            <a:pPr algn="l">
              <a:spcAft>
                <a:spcPts val="810"/>
              </a:spcAft>
            </a:pPr>
            <a:r>
              <a:rPr sz="1800" b="1" i="0">
                <a:solidFill>
                  <a:srgbClr val="C03535"/>
                </a:solidFill>
                <a:latin typeface="Calibri"/>
              </a:rPr>
              <a:t>Fails dangerously: </a:t>
            </a:r>
            <a:r>
              <a:rPr sz="1800" b="0" i="0">
                <a:solidFill>
                  <a:srgbClr val="1A1A1A"/>
                </a:solidFill>
                <a:latin typeface="Calibri"/>
              </a:rPr>
              <a:t>confidently names the wrong species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277295" y="6400800"/>
            <a:ext cx="457200" cy="274320"/>
          </a:xfrm>
          <a:prstGeom prst="rect">
            <a:avLst/>
          </a:prstGeom>
          <a:noFill/>
        </p:spPr>
        <p:txBody>
          <a:bodyPr wrap="square" anchor="t" lIns="0" rIns="0" tIns="0" bIns="0">
            <a:spAutoFit/>
          </a:bodyPr>
          <a:lstStyle/>
          <a:p>
            <a:pPr algn="r">
              <a:spcAft>
                <a:spcPts val="450"/>
              </a:spcAft>
            </a:pPr>
            <a:r>
              <a:rPr sz="1000" b="0" i="0">
                <a:solidFill>
                  <a:srgbClr val="5A5A55"/>
                </a:solidFill>
                <a:latin typeface="Calibri"/>
              </a:rPr>
              <a:t>3</a:t>
            </a:r>
          </a:p>
        </p:txBody>
      </p:sp>
      <p:sp>
        <p:nvSpPr>
          <p:cNvPr id="3" name="TextBox 2"/>
          <p:cNvSpPr txBox="1"/>
          <p:nvPr/>
        </p:nvSpPr>
        <p:spPr>
          <a:xfrm>
            <a:off x="548640" y="411480"/>
            <a:ext cx="11094415" cy="822960"/>
          </a:xfrm>
          <a:prstGeom prst="rect">
            <a:avLst/>
          </a:prstGeom>
          <a:noFill/>
        </p:spPr>
        <p:txBody>
          <a:bodyPr wrap="square" anchor="t" lIns="0" rIns="0" tIns="0" bIns="0">
            <a:spAutoFit/>
          </a:bodyPr>
          <a:lstStyle/>
          <a:p>
            <a:pPr algn="l">
              <a:spcAft>
                <a:spcPts val="1530"/>
              </a:spcAft>
            </a:pPr>
            <a:r>
              <a:rPr sz="3400" b="1" i="0">
                <a:solidFill>
                  <a:srgbClr val="0F3B40"/>
                </a:solidFill>
                <a:latin typeface="Cambria"/>
              </a:rPr>
              <a:t>Data: 779 clean barcodes of 45 species</a:t>
            </a:r>
          </a:p>
        </p:txBody>
      </p:sp>
      <p:sp>
        <p:nvSpPr>
          <p:cNvPr id="4" name="TextBox 3"/>
          <p:cNvSpPr txBox="1"/>
          <p:nvPr/>
        </p:nvSpPr>
        <p:spPr>
          <a:xfrm>
            <a:off x="548640" y="1463040"/>
            <a:ext cx="2651760" cy="868680"/>
          </a:xfrm>
          <a:prstGeom prst="rect">
            <a:avLst/>
          </a:prstGeom>
          <a:noFill/>
        </p:spPr>
        <p:txBody>
          <a:bodyPr wrap="square" anchor="t" lIns="0" rIns="0" tIns="0" bIns="0">
            <a:spAutoFit/>
          </a:bodyPr>
          <a:lstStyle/>
          <a:p>
            <a:pPr algn="l">
              <a:spcAft>
                <a:spcPts val="2430"/>
              </a:spcAft>
            </a:pPr>
            <a:r>
              <a:rPr sz="5400" b="1" i="0">
                <a:solidFill>
                  <a:srgbClr val="0F3B40"/>
                </a:solidFill>
                <a:latin typeface="Cambria"/>
              </a:rPr>
              <a:t>4,477</a:t>
            </a:r>
          </a:p>
        </p:txBody>
      </p:sp>
      <p:sp>
        <p:nvSpPr>
          <p:cNvPr id="5" name="TextBox 4"/>
          <p:cNvSpPr txBox="1"/>
          <p:nvPr/>
        </p:nvSpPr>
        <p:spPr>
          <a:xfrm>
            <a:off x="548640" y="2331720"/>
            <a:ext cx="2651760" cy="731520"/>
          </a:xfrm>
          <a:prstGeom prst="rect">
            <a:avLst/>
          </a:prstGeom>
          <a:noFill/>
        </p:spPr>
        <p:txBody>
          <a:bodyPr wrap="square" anchor="t" lIns="0" rIns="0" tIns="0" bIns="0">
            <a:spAutoFit/>
          </a:bodyPr>
          <a:lstStyle/>
          <a:p>
            <a:pPr algn="l">
              <a:spcAft>
                <a:spcPts val="630"/>
              </a:spcAft>
            </a:pPr>
            <a:r>
              <a:rPr sz="1400" b="0" i="0">
                <a:solidFill>
                  <a:srgbClr val="5A5A55"/>
                </a:solidFill>
                <a:latin typeface="Calibri"/>
              </a:rPr>
              <a:t>raw BOLD records
(all European Odonata)</a:t>
            </a:r>
          </a:p>
        </p:txBody>
      </p:sp>
      <p:sp>
        <p:nvSpPr>
          <p:cNvPr id="6" name="TextBox 5"/>
          <p:cNvSpPr txBox="1"/>
          <p:nvPr/>
        </p:nvSpPr>
        <p:spPr>
          <a:xfrm>
            <a:off x="3383280" y="1463040"/>
            <a:ext cx="2651760" cy="868680"/>
          </a:xfrm>
          <a:prstGeom prst="rect">
            <a:avLst/>
          </a:prstGeom>
          <a:noFill/>
        </p:spPr>
        <p:txBody>
          <a:bodyPr wrap="square" anchor="t" lIns="0" rIns="0" tIns="0" bIns="0">
            <a:spAutoFit/>
          </a:bodyPr>
          <a:lstStyle/>
          <a:p>
            <a:pPr algn="l">
              <a:spcAft>
                <a:spcPts val="2430"/>
              </a:spcAft>
            </a:pPr>
            <a:r>
              <a:rPr sz="5400" b="1" i="0">
                <a:solidFill>
                  <a:srgbClr val="E09F1F"/>
                </a:solidFill>
                <a:latin typeface="Cambria"/>
              </a:rPr>
              <a:t>779</a:t>
            </a:r>
          </a:p>
        </p:txBody>
      </p:sp>
      <p:sp>
        <p:nvSpPr>
          <p:cNvPr id="7" name="TextBox 6"/>
          <p:cNvSpPr txBox="1"/>
          <p:nvPr/>
        </p:nvSpPr>
        <p:spPr>
          <a:xfrm>
            <a:off x="3383280" y="2331720"/>
            <a:ext cx="2651760" cy="731520"/>
          </a:xfrm>
          <a:prstGeom prst="rect">
            <a:avLst/>
          </a:prstGeom>
          <a:noFill/>
        </p:spPr>
        <p:txBody>
          <a:bodyPr wrap="square" anchor="t" lIns="0" rIns="0" tIns="0" bIns="0">
            <a:spAutoFit/>
          </a:bodyPr>
          <a:lstStyle/>
          <a:p>
            <a:pPr algn="l">
              <a:spcAft>
                <a:spcPts val="630"/>
              </a:spcAft>
            </a:pPr>
            <a:r>
              <a:rPr sz="1400" b="0" i="0">
                <a:solidFill>
                  <a:srgbClr val="5A5A55"/>
                </a:solidFill>
                <a:latin typeface="Calibri"/>
              </a:rPr>
              <a:t>clean, unique
COI barcodes</a:t>
            </a:r>
          </a:p>
        </p:txBody>
      </p:sp>
      <p:sp>
        <p:nvSpPr>
          <p:cNvPr id="8" name="TextBox 7"/>
          <p:cNvSpPr txBox="1"/>
          <p:nvPr/>
        </p:nvSpPr>
        <p:spPr>
          <a:xfrm>
            <a:off x="6217920" y="1463040"/>
            <a:ext cx="2651760" cy="868680"/>
          </a:xfrm>
          <a:prstGeom prst="rect">
            <a:avLst/>
          </a:prstGeom>
          <a:noFill/>
        </p:spPr>
        <p:txBody>
          <a:bodyPr wrap="square" anchor="t" lIns="0" rIns="0" tIns="0" bIns="0">
            <a:spAutoFit/>
          </a:bodyPr>
          <a:lstStyle/>
          <a:p>
            <a:pPr algn="l">
              <a:spcAft>
                <a:spcPts val="2430"/>
              </a:spcAft>
            </a:pPr>
            <a:r>
              <a:rPr sz="5400" b="1" i="0">
                <a:solidFill>
                  <a:srgbClr val="0F3B40"/>
                </a:solidFill>
                <a:latin typeface="Cambria"/>
              </a:rPr>
              <a:t>45</a:t>
            </a:r>
          </a:p>
        </p:txBody>
      </p:sp>
      <p:sp>
        <p:nvSpPr>
          <p:cNvPr id="9" name="TextBox 8"/>
          <p:cNvSpPr txBox="1"/>
          <p:nvPr/>
        </p:nvSpPr>
        <p:spPr>
          <a:xfrm>
            <a:off x="6217920" y="2331720"/>
            <a:ext cx="2651760" cy="731520"/>
          </a:xfrm>
          <a:prstGeom prst="rect">
            <a:avLst/>
          </a:prstGeom>
          <a:noFill/>
        </p:spPr>
        <p:txBody>
          <a:bodyPr wrap="square" anchor="t" lIns="0" rIns="0" tIns="0" bIns="0">
            <a:spAutoFit/>
          </a:bodyPr>
          <a:lstStyle/>
          <a:p>
            <a:pPr algn="l">
              <a:spcAft>
                <a:spcPts val="630"/>
              </a:spcAft>
            </a:pPr>
            <a:r>
              <a:rPr sz="1400" b="0" i="0">
                <a:solidFill>
                  <a:srgbClr val="5A5A55"/>
                </a:solidFill>
                <a:latin typeface="Calibri"/>
              </a:rPr>
              <a:t>species in 14 genera,
2 families</a:t>
            </a:r>
          </a:p>
        </p:txBody>
      </p:sp>
      <p:sp>
        <p:nvSpPr>
          <p:cNvPr id="10" name="TextBox 9"/>
          <p:cNvSpPr txBox="1"/>
          <p:nvPr/>
        </p:nvSpPr>
        <p:spPr>
          <a:xfrm>
            <a:off x="9052560" y="1463040"/>
            <a:ext cx="2651760" cy="868680"/>
          </a:xfrm>
          <a:prstGeom prst="rect">
            <a:avLst/>
          </a:prstGeom>
          <a:noFill/>
        </p:spPr>
        <p:txBody>
          <a:bodyPr wrap="square" anchor="t" lIns="0" rIns="0" tIns="0" bIns="0">
            <a:spAutoFit/>
          </a:bodyPr>
          <a:lstStyle/>
          <a:p>
            <a:pPr algn="l">
              <a:spcAft>
                <a:spcPts val="2430"/>
              </a:spcAft>
            </a:pPr>
            <a:r>
              <a:rPr sz="5400" b="1" i="0">
                <a:solidFill>
                  <a:srgbClr val="0F3B40"/>
                </a:solidFill>
                <a:latin typeface="Cambria"/>
              </a:rPr>
              <a:t>30</a:t>
            </a:r>
          </a:p>
        </p:txBody>
      </p:sp>
      <p:sp>
        <p:nvSpPr>
          <p:cNvPr id="11" name="TextBox 10"/>
          <p:cNvSpPr txBox="1"/>
          <p:nvPr/>
        </p:nvSpPr>
        <p:spPr>
          <a:xfrm>
            <a:off x="9052560" y="2331720"/>
            <a:ext cx="2651760" cy="731520"/>
          </a:xfrm>
          <a:prstGeom prst="rect">
            <a:avLst/>
          </a:prstGeom>
          <a:noFill/>
        </p:spPr>
        <p:txBody>
          <a:bodyPr wrap="square" anchor="t" lIns="0" rIns="0" tIns="0" bIns="0">
            <a:spAutoFit/>
          </a:bodyPr>
          <a:lstStyle/>
          <a:p>
            <a:pPr algn="l">
              <a:spcAft>
                <a:spcPts val="630"/>
              </a:spcAft>
            </a:pPr>
            <a:r>
              <a:rPr sz="1400" b="0" i="0">
                <a:solidFill>
                  <a:srgbClr val="5A5A55"/>
                </a:solidFill>
                <a:latin typeface="Calibri"/>
              </a:rPr>
              <a:t>European countries
searched</a:t>
            </a:r>
          </a:p>
        </p:txBody>
      </p:sp>
      <p:sp>
        <p:nvSpPr>
          <p:cNvPr id="12" name="Rounded Rectangle 11"/>
          <p:cNvSpPr/>
          <p:nvPr/>
        </p:nvSpPr>
        <p:spPr>
          <a:xfrm>
            <a:off x="548640" y="3566160"/>
            <a:ext cx="11064240" cy="2514600"/>
          </a:xfrm>
          <a:prstGeom prst="roundRect">
            <a:avLst>
              <a:gd name="adj" fmla="val 8000"/>
            </a:avLst>
          </a:prstGeom>
          <a:solidFill>
            <a:srgbClr val="E6F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325880" y="3794760"/>
            <a:ext cx="502920" cy="502920"/>
          </a:xfrm>
          <a:prstGeom prst="ellipse">
            <a:avLst/>
          </a:prstGeom>
          <a:solidFill>
            <a:srgbClr val="0F3B4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mbria"/>
              </a:rPr>
              <a:t>1</a:t>
            </a:r>
          </a:p>
        </p:txBody>
      </p:sp>
      <p:sp>
        <p:nvSpPr>
          <p:cNvPr id="14" name="TextBox 13"/>
          <p:cNvSpPr txBox="1"/>
          <p:nvPr/>
        </p:nvSpPr>
        <p:spPr>
          <a:xfrm>
            <a:off x="822960" y="4434840"/>
            <a:ext cx="1554480" cy="822960"/>
          </a:xfrm>
          <a:prstGeom prst="rect">
            <a:avLst/>
          </a:prstGeom>
          <a:noFill/>
        </p:spPr>
        <p:txBody>
          <a:bodyPr wrap="square" anchor="t" lIns="0" rIns="0" tIns="0" bIns="0">
            <a:spAutoFit/>
          </a:bodyPr>
          <a:lstStyle/>
          <a:p>
            <a:pPr algn="ctr">
              <a:spcAft>
                <a:spcPts val="630"/>
              </a:spcAft>
            </a:pPr>
            <a:r>
              <a:rPr sz="1400" b="0" i="0">
                <a:solidFill>
                  <a:srgbClr val="1A1A1A"/>
                </a:solidFill>
                <a:latin typeface="Calibri"/>
              </a:rPr>
              <a:t>Download
from BOLD</a:t>
            </a:r>
          </a:p>
        </p:txBody>
      </p:sp>
      <p:sp>
        <p:nvSpPr>
          <p:cNvPr id="15" name="Oval 14"/>
          <p:cNvSpPr/>
          <p:nvPr/>
        </p:nvSpPr>
        <p:spPr>
          <a:xfrm>
            <a:off x="3136391" y="3794760"/>
            <a:ext cx="502920" cy="502920"/>
          </a:xfrm>
          <a:prstGeom prst="ellipse">
            <a:avLst/>
          </a:prstGeom>
          <a:solidFill>
            <a:srgbClr val="0F3B4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mbria"/>
              </a:rPr>
              <a:t>2</a:t>
            </a:r>
          </a:p>
        </p:txBody>
      </p:sp>
      <p:sp>
        <p:nvSpPr>
          <p:cNvPr id="16" name="TextBox 15"/>
          <p:cNvSpPr txBox="1"/>
          <p:nvPr/>
        </p:nvSpPr>
        <p:spPr>
          <a:xfrm>
            <a:off x="2633472" y="4434840"/>
            <a:ext cx="1554480" cy="822960"/>
          </a:xfrm>
          <a:prstGeom prst="rect">
            <a:avLst/>
          </a:prstGeom>
          <a:noFill/>
        </p:spPr>
        <p:txBody>
          <a:bodyPr wrap="square" anchor="t" lIns="0" rIns="0" tIns="0" bIns="0">
            <a:spAutoFit/>
          </a:bodyPr>
          <a:lstStyle/>
          <a:p>
            <a:pPr algn="ctr">
              <a:spcAft>
                <a:spcPts val="630"/>
              </a:spcAft>
            </a:pPr>
            <a:r>
              <a:rPr sz="1400" b="0" i="0">
                <a:solidFill>
                  <a:srgbClr val="1A1A1A"/>
                </a:solidFill>
                <a:latin typeface="Calibri"/>
              </a:rPr>
              <a:t>Keep COI-5P,
2 families</a:t>
            </a:r>
          </a:p>
        </p:txBody>
      </p:sp>
      <p:sp>
        <p:nvSpPr>
          <p:cNvPr id="17" name="Oval 16"/>
          <p:cNvSpPr/>
          <p:nvPr/>
        </p:nvSpPr>
        <p:spPr>
          <a:xfrm>
            <a:off x="4946904" y="3794760"/>
            <a:ext cx="502920" cy="502920"/>
          </a:xfrm>
          <a:prstGeom prst="ellipse">
            <a:avLst/>
          </a:prstGeom>
          <a:solidFill>
            <a:srgbClr val="0F3B4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mbria"/>
              </a:rPr>
              <a:t>3</a:t>
            </a:r>
          </a:p>
        </p:txBody>
      </p:sp>
      <p:sp>
        <p:nvSpPr>
          <p:cNvPr id="18" name="TextBox 17"/>
          <p:cNvSpPr txBox="1"/>
          <p:nvPr/>
        </p:nvSpPr>
        <p:spPr>
          <a:xfrm>
            <a:off x="4443984" y="4434840"/>
            <a:ext cx="1554480" cy="822960"/>
          </a:xfrm>
          <a:prstGeom prst="rect">
            <a:avLst/>
          </a:prstGeom>
          <a:noFill/>
        </p:spPr>
        <p:txBody>
          <a:bodyPr wrap="square" anchor="t" lIns="0" rIns="0" tIns="0" bIns="0">
            <a:spAutoFit/>
          </a:bodyPr>
          <a:lstStyle/>
          <a:p>
            <a:pPr algn="ctr">
              <a:spcAft>
                <a:spcPts val="630"/>
              </a:spcAft>
            </a:pPr>
            <a:r>
              <a:rPr sz="1400" b="0" i="0">
                <a:solidFill>
                  <a:srgbClr val="1A1A1A"/>
                </a:solidFill>
                <a:latin typeface="Calibri"/>
              </a:rPr>
              <a:t>Remove
mislabels</a:t>
            </a:r>
          </a:p>
        </p:txBody>
      </p:sp>
      <p:sp>
        <p:nvSpPr>
          <p:cNvPr id="19" name="Oval 18"/>
          <p:cNvSpPr/>
          <p:nvPr/>
        </p:nvSpPr>
        <p:spPr>
          <a:xfrm>
            <a:off x="6757416" y="3794760"/>
            <a:ext cx="502920" cy="502920"/>
          </a:xfrm>
          <a:prstGeom prst="ellipse">
            <a:avLst/>
          </a:prstGeom>
          <a:solidFill>
            <a:srgbClr val="0F3B4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mbria"/>
              </a:rPr>
              <a:t>4</a:t>
            </a:r>
          </a:p>
        </p:txBody>
      </p:sp>
      <p:sp>
        <p:nvSpPr>
          <p:cNvPr id="20" name="TextBox 19"/>
          <p:cNvSpPr txBox="1"/>
          <p:nvPr/>
        </p:nvSpPr>
        <p:spPr>
          <a:xfrm>
            <a:off x="6254496" y="4434840"/>
            <a:ext cx="1554480" cy="822960"/>
          </a:xfrm>
          <a:prstGeom prst="rect">
            <a:avLst/>
          </a:prstGeom>
          <a:noFill/>
        </p:spPr>
        <p:txBody>
          <a:bodyPr wrap="square" anchor="t" lIns="0" rIns="0" tIns="0" bIns="0">
            <a:spAutoFit/>
          </a:bodyPr>
          <a:lstStyle/>
          <a:p>
            <a:pPr algn="ctr">
              <a:spcAft>
                <a:spcPts val="630"/>
              </a:spcAft>
            </a:pPr>
            <a:r>
              <a:rPr sz="1400" b="0" i="0">
                <a:solidFill>
                  <a:srgbClr val="1A1A1A"/>
                </a:solidFill>
                <a:latin typeface="Calibri"/>
              </a:rPr>
              <a:t>Trim to
barcode</a:t>
            </a:r>
          </a:p>
        </p:txBody>
      </p:sp>
      <p:sp>
        <p:nvSpPr>
          <p:cNvPr id="21" name="Oval 20"/>
          <p:cNvSpPr/>
          <p:nvPr/>
        </p:nvSpPr>
        <p:spPr>
          <a:xfrm>
            <a:off x="8567928" y="3794760"/>
            <a:ext cx="502920" cy="502920"/>
          </a:xfrm>
          <a:prstGeom prst="ellipse">
            <a:avLst/>
          </a:prstGeom>
          <a:solidFill>
            <a:srgbClr val="0F3B4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mbria"/>
              </a:rPr>
              <a:t>5</a:t>
            </a:r>
          </a:p>
        </p:txBody>
      </p:sp>
      <p:sp>
        <p:nvSpPr>
          <p:cNvPr id="22" name="TextBox 21"/>
          <p:cNvSpPr txBox="1"/>
          <p:nvPr/>
        </p:nvSpPr>
        <p:spPr>
          <a:xfrm>
            <a:off x="8065008" y="4434840"/>
            <a:ext cx="1554480" cy="822960"/>
          </a:xfrm>
          <a:prstGeom prst="rect">
            <a:avLst/>
          </a:prstGeom>
          <a:noFill/>
        </p:spPr>
        <p:txBody>
          <a:bodyPr wrap="square" anchor="t" lIns="0" rIns="0" tIns="0" bIns="0">
            <a:spAutoFit/>
          </a:bodyPr>
          <a:lstStyle/>
          <a:p>
            <a:pPr algn="ctr">
              <a:spcAft>
                <a:spcPts val="630"/>
              </a:spcAft>
            </a:pPr>
            <a:r>
              <a:rPr sz="1400" b="0" i="0">
                <a:solidFill>
                  <a:srgbClr val="1A1A1A"/>
                </a:solidFill>
                <a:latin typeface="Calibri"/>
              </a:rPr>
              <a:t>Remove duplicates
&amp; outliers</a:t>
            </a:r>
          </a:p>
        </p:txBody>
      </p:sp>
      <p:sp>
        <p:nvSpPr>
          <p:cNvPr id="23" name="Oval 22"/>
          <p:cNvSpPr/>
          <p:nvPr/>
        </p:nvSpPr>
        <p:spPr>
          <a:xfrm>
            <a:off x="10378440" y="3794760"/>
            <a:ext cx="502920" cy="502920"/>
          </a:xfrm>
          <a:prstGeom prst="ellipse">
            <a:avLst/>
          </a:prstGeom>
          <a:solidFill>
            <a:srgbClr val="0F3B4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mbria"/>
              </a:rPr>
              <a:t>6</a:t>
            </a:r>
          </a:p>
        </p:txBody>
      </p:sp>
      <p:sp>
        <p:nvSpPr>
          <p:cNvPr id="24" name="TextBox 23"/>
          <p:cNvSpPr txBox="1"/>
          <p:nvPr/>
        </p:nvSpPr>
        <p:spPr>
          <a:xfrm>
            <a:off x="9875520" y="4434840"/>
            <a:ext cx="1554480" cy="822960"/>
          </a:xfrm>
          <a:prstGeom prst="rect">
            <a:avLst/>
          </a:prstGeom>
          <a:noFill/>
        </p:spPr>
        <p:txBody>
          <a:bodyPr wrap="square" anchor="t" lIns="0" rIns="0" tIns="0" bIns="0">
            <a:spAutoFit/>
          </a:bodyPr>
          <a:lstStyle/>
          <a:p>
            <a:pPr algn="ctr">
              <a:spcAft>
                <a:spcPts val="630"/>
              </a:spcAft>
            </a:pPr>
            <a:r>
              <a:rPr sz="1400" b="0" i="0">
                <a:solidFill>
                  <a:srgbClr val="1A1A1A"/>
                </a:solidFill>
                <a:latin typeface="Calibri"/>
              </a:rPr>
              <a:t>≥ 3 sequences
per species</a:t>
            </a:r>
          </a:p>
        </p:txBody>
      </p:sp>
      <p:sp>
        <p:nvSpPr>
          <p:cNvPr id="25" name="TextBox 24"/>
          <p:cNvSpPr txBox="1"/>
          <p:nvPr/>
        </p:nvSpPr>
        <p:spPr>
          <a:xfrm>
            <a:off x="822960" y="5349240"/>
            <a:ext cx="10515600" cy="640080"/>
          </a:xfrm>
          <a:prstGeom prst="rect">
            <a:avLst/>
          </a:prstGeom>
          <a:noFill/>
        </p:spPr>
        <p:txBody>
          <a:bodyPr wrap="square" anchor="t" lIns="0" rIns="0" tIns="0" bIns="0">
            <a:spAutoFit/>
          </a:bodyPr>
          <a:lstStyle/>
          <a:p>
            <a:pPr algn="l">
              <a:spcAft>
                <a:spcPts val="630"/>
              </a:spcAft>
            </a:pPr>
            <a:r>
              <a:rPr sz="1400" b="0" i="1">
                <a:solidFill>
                  <a:srgbClr val="5A5A55"/>
                </a:solidFill>
                <a:latin typeface="Calibri"/>
              </a:rPr>
              <a:t>Libellulidae (skimmers) and Coenagrionidae (narrow-winged damselflies): many closely related species, so 'is this a close relative?' can be tested.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277295" y="6400800"/>
            <a:ext cx="457200" cy="274320"/>
          </a:xfrm>
          <a:prstGeom prst="rect">
            <a:avLst/>
          </a:prstGeom>
          <a:noFill/>
        </p:spPr>
        <p:txBody>
          <a:bodyPr wrap="square" anchor="t" lIns="0" rIns="0" tIns="0" bIns="0">
            <a:spAutoFit/>
          </a:bodyPr>
          <a:lstStyle/>
          <a:p>
            <a:pPr algn="r">
              <a:spcAft>
                <a:spcPts val="450"/>
              </a:spcAft>
            </a:pPr>
            <a:r>
              <a:rPr sz="1000" b="0" i="0">
                <a:solidFill>
                  <a:srgbClr val="5A5A55"/>
                </a:solidFill>
                <a:latin typeface="Calibri"/>
              </a:rPr>
              <a:t>4</a:t>
            </a:r>
          </a:p>
        </p:txBody>
      </p:sp>
      <p:sp>
        <p:nvSpPr>
          <p:cNvPr id="3" name="TextBox 2"/>
          <p:cNvSpPr txBox="1"/>
          <p:nvPr/>
        </p:nvSpPr>
        <p:spPr>
          <a:xfrm>
            <a:off x="548640" y="411480"/>
            <a:ext cx="11094415" cy="822960"/>
          </a:xfrm>
          <a:prstGeom prst="rect">
            <a:avLst/>
          </a:prstGeom>
          <a:noFill/>
        </p:spPr>
        <p:txBody>
          <a:bodyPr wrap="square" anchor="t" lIns="0" rIns="0" tIns="0" bIns="0">
            <a:spAutoFit/>
          </a:bodyPr>
          <a:lstStyle/>
          <a:p>
            <a:pPr algn="l">
              <a:spcAft>
                <a:spcPts val="1530"/>
              </a:spcAft>
            </a:pPr>
            <a:r>
              <a:rPr sz="3400" b="1" i="0">
                <a:solidFill>
                  <a:srgbClr val="0F3B40"/>
                </a:solidFill>
                <a:latin typeface="Cambria"/>
              </a:rPr>
              <a:t>Four methods, the same queries</a:t>
            </a:r>
          </a:p>
        </p:txBody>
      </p:sp>
      <p:sp>
        <p:nvSpPr>
          <p:cNvPr id="4" name="Rounded Rectangle 3"/>
          <p:cNvSpPr/>
          <p:nvPr/>
        </p:nvSpPr>
        <p:spPr>
          <a:xfrm>
            <a:off x="548640" y="1463040"/>
            <a:ext cx="2606040" cy="4480560"/>
          </a:xfrm>
          <a:prstGeom prst="roundRect">
            <a:avLst>
              <a:gd name="adj" fmla="val 8000"/>
            </a:avLst>
          </a:prstGeom>
          <a:solidFill>
            <a:srgbClr val="E6F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77240" y="1691640"/>
            <a:ext cx="777240" cy="777240"/>
          </a:xfrm>
          <a:prstGeom prst="ellipse">
            <a:avLst/>
          </a:prstGeom>
          <a:solidFill>
            <a:srgbClr val="0F3B4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mbria"/>
              </a:rPr>
              <a:t>NJ</a:t>
            </a:r>
          </a:p>
        </p:txBody>
      </p:sp>
      <p:sp>
        <p:nvSpPr>
          <p:cNvPr id="6" name="TextBox 5"/>
          <p:cNvSpPr txBox="1"/>
          <p:nvPr/>
        </p:nvSpPr>
        <p:spPr>
          <a:xfrm>
            <a:off x="777240" y="2651760"/>
            <a:ext cx="2194560" cy="731520"/>
          </a:xfrm>
          <a:prstGeom prst="rect">
            <a:avLst/>
          </a:prstGeom>
          <a:noFill/>
        </p:spPr>
        <p:txBody>
          <a:bodyPr wrap="square" anchor="t" lIns="0" rIns="0" tIns="0" bIns="0">
            <a:spAutoFit/>
          </a:bodyPr>
          <a:lstStyle/>
          <a:p>
            <a:pPr algn="l">
              <a:spcAft>
                <a:spcPts val="855"/>
              </a:spcAft>
            </a:pPr>
            <a:r>
              <a:rPr sz="1900" b="1" i="0">
                <a:solidFill>
                  <a:srgbClr val="0F3B40"/>
                </a:solidFill>
                <a:latin typeface="Calibri"/>
              </a:rPr>
              <a:t>Neighbor-Joining tree</a:t>
            </a:r>
          </a:p>
        </p:txBody>
      </p:sp>
      <p:sp>
        <p:nvSpPr>
          <p:cNvPr id="7" name="TextBox 6"/>
          <p:cNvSpPr txBox="1"/>
          <p:nvPr/>
        </p:nvSpPr>
        <p:spPr>
          <a:xfrm>
            <a:off x="777240" y="3383280"/>
            <a:ext cx="2194560" cy="1463040"/>
          </a:xfrm>
          <a:prstGeom prst="rect">
            <a:avLst/>
          </a:prstGeom>
          <a:noFill/>
        </p:spPr>
        <p:txBody>
          <a:bodyPr wrap="square" anchor="t" lIns="0" rIns="0" tIns="0" bIns="0">
            <a:spAutoFit/>
          </a:bodyPr>
          <a:lstStyle/>
          <a:p>
            <a:pPr algn="l">
              <a:spcAft>
                <a:spcPts val="675"/>
              </a:spcAft>
            </a:pPr>
            <a:r>
              <a:rPr sz="1500" b="0" i="0">
                <a:solidFill>
                  <a:srgbClr val="1A1A1A"/>
                </a:solidFill>
                <a:latin typeface="Calibri"/>
              </a:rPr>
              <a:t>Build a tree of reference + query barcodes. Answer = the species in the smallest clade around the query.</a:t>
            </a:r>
          </a:p>
        </p:txBody>
      </p:sp>
      <p:sp>
        <p:nvSpPr>
          <p:cNvPr id="8" name="TextBox 7"/>
          <p:cNvSpPr txBox="1"/>
          <p:nvPr/>
        </p:nvSpPr>
        <p:spPr>
          <a:xfrm>
            <a:off x="777240" y="4892040"/>
            <a:ext cx="2194560" cy="914400"/>
          </a:xfrm>
          <a:prstGeom prst="rect">
            <a:avLst/>
          </a:prstGeom>
          <a:noFill/>
        </p:spPr>
        <p:txBody>
          <a:bodyPr wrap="square" anchor="t" lIns="0" rIns="0" tIns="0" bIns="0">
            <a:spAutoFit/>
          </a:bodyPr>
          <a:lstStyle/>
          <a:p>
            <a:pPr algn="l">
              <a:spcAft>
                <a:spcPts val="630"/>
              </a:spcAft>
            </a:pPr>
            <a:r>
              <a:rPr sz="1400" b="0" i="1">
                <a:solidFill>
                  <a:srgbClr val="8A5A00"/>
                </a:solidFill>
                <a:latin typeface="Calibri"/>
              </a:rPr>
              <a:t>Unknown? Only 'ambiguous' if that clade has several species</a:t>
            </a:r>
          </a:p>
        </p:txBody>
      </p:sp>
      <p:sp>
        <p:nvSpPr>
          <p:cNvPr id="9" name="Rounded Rectangle 8"/>
          <p:cNvSpPr/>
          <p:nvPr/>
        </p:nvSpPr>
        <p:spPr>
          <a:xfrm>
            <a:off x="3364992" y="1463040"/>
            <a:ext cx="2606040" cy="4480560"/>
          </a:xfrm>
          <a:prstGeom prst="roundRect">
            <a:avLst>
              <a:gd name="adj" fmla="val 8000"/>
            </a:avLst>
          </a:prstGeom>
          <a:solidFill>
            <a:srgbClr val="E6F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3593592" y="1691640"/>
            <a:ext cx="777240" cy="777240"/>
          </a:xfrm>
          <a:prstGeom prst="ellipse">
            <a:avLst/>
          </a:prstGeom>
          <a:solidFill>
            <a:srgbClr val="0F3B4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mbria"/>
              </a:rPr>
              <a:t>kNN</a:t>
            </a:r>
          </a:p>
        </p:txBody>
      </p:sp>
      <p:sp>
        <p:nvSpPr>
          <p:cNvPr id="11" name="TextBox 10"/>
          <p:cNvSpPr txBox="1"/>
          <p:nvPr/>
        </p:nvSpPr>
        <p:spPr>
          <a:xfrm>
            <a:off x="3593592" y="2651760"/>
            <a:ext cx="2194560" cy="731520"/>
          </a:xfrm>
          <a:prstGeom prst="rect">
            <a:avLst/>
          </a:prstGeom>
          <a:noFill/>
        </p:spPr>
        <p:txBody>
          <a:bodyPr wrap="square" anchor="t" lIns="0" rIns="0" tIns="0" bIns="0">
            <a:spAutoFit/>
          </a:bodyPr>
          <a:lstStyle/>
          <a:p>
            <a:pPr algn="l">
              <a:spcAft>
                <a:spcPts val="855"/>
              </a:spcAft>
            </a:pPr>
            <a:r>
              <a:rPr sz="1900" b="1" i="0">
                <a:solidFill>
                  <a:srgbClr val="0F3B40"/>
                </a:solidFill>
                <a:latin typeface="Calibri"/>
              </a:rPr>
              <a:t>k-nearest neighbours</a:t>
            </a:r>
          </a:p>
        </p:txBody>
      </p:sp>
      <p:sp>
        <p:nvSpPr>
          <p:cNvPr id="12" name="TextBox 11"/>
          <p:cNvSpPr txBox="1"/>
          <p:nvPr/>
        </p:nvSpPr>
        <p:spPr>
          <a:xfrm>
            <a:off x="3593592" y="3383280"/>
            <a:ext cx="2194560" cy="1463040"/>
          </a:xfrm>
          <a:prstGeom prst="rect">
            <a:avLst/>
          </a:prstGeom>
          <a:noFill/>
        </p:spPr>
        <p:txBody>
          <a:bodyPr wrap="square" anchor="t" lIns="0" rIns="0" tIns="0" bIns="0">
            <a:spAutoFit/>
          </a:bodyPr>
          <a:lstStyle/>
          <a:p>
            <a:pPr algn="l">
              <a:spcAft>
                <a:spcPts val="675"/>
              </a:spcAft>
            </a:pPr>
            <a:r>
              <a:rPr sz="1500" b="0" i="0">
                <a:solidFill>
                  <a:srgbClr val="1A1A1A"/>
                </a:solidFill>
                <a:latin typeface="Calibri"/>
              </a:rPr>
              <a:t>Compare k-mer profiles; the 5 most similar reference barcodes vote.</a:t>
            </a:r>
          </a:p>
        </p:txBody>
      </p:sp>
      <p:sp>
        <p:nvSpPr>
          <p:cNvPr id="13" name="TextBox 12"/>
          <p:cNvSpPr txBox="1"/>
          <p:nvPr/>
        </p:nvSpPr>
        <p:spPr>
          <a:xfrm>
            <a:off x="3593592" y="4892040"/>
            <a:ext cx="2194560" cy="914400"/>
          </a:xfrm>
          <a:prstGeom prst="rect">
            <a:avLst/>
          </a:prstGeom>
          <a:noFill/>
        </p:spPr>
        <p:txBody>
          <a:bodyPr wrap="square" anchor="t" lIns="0" rIns="0" tIns="0" bIns="0">
            <a:spAutoFit/>
          </a:bodyPr>
          <a:lstStyle/>
          <a:p>
            <a:pPr algn="l">
              <a:spcAft>
                <a:spcPts val="630"/>
              </a:spcAft>
            </a:pPr>
            <a:r>
              <a:rPr sz="1400" b="0" i="1">
                <a:solidFill>
                  <a:srgbClr val="8A5A00"/>
                </a:solidFill>
                <a:latin typeface="Calibri"/>
              </a:rPr>
              <a:t>Unknown? If the nearest reference is too far away</a:t>
            </a:r>
          </a:p>
        </p:txBody>
      </p:sp>
      <p:sp>
        <p:nvSpPr>
          <p:cNvPr id="14" name="Rounded Rectangle 13"/>
          <p:cNvSpPr/>
          <p:nvPr/>
        </p:nvSpPr>
        <p:spPr>
          <a:xfrm>
            <a:off x="6181344" y="1463040"/>
            <a:ext cx="2606040" cy="4480560"/>
          </a:xfrm>
          <a:prstGeom prst="roundRect">
            <a:avLst>
              <a:gd name="adj" fmla="val 8000"/>
            </a:avLst>
          </a:prstGeom>
          <a:solidFill>
            <a:srgbClr val="E6F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09944" y="1691640"/>
            <a:ext cx="777240" cy="777240"/>
          </a:xfrm>
          <a:prstGeom prst="ellipse">
            <a:avLst/>
          </a:prstGeom>
          <a:solidFill>
            <a:srgbClr val="0F3B4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mbria"/>
              </a:rPr>
              <a:t>RF</a:t>
            </a:r>
          </a:p>
        </p:txBody>
      </p:sp>
      <p:sp>
        <p:nvSpPr>
          <p:cNvPr id="16" name="TextBox 15"/>
          <p:cNvSpPr txBox="1"/>
          <p:nvPr/>
        </p:nvSpPr>
        <p:spPr>
          <a:xfrm>
            <a:off x="6409944" y="2651760"/>
            <a:ext cx="2194560" cy="731520"/>
          </a:xfrm>
          <a:prstGeom prst="rect">
            <a:avLst/>
          </a:prstGeom>
          <a:noFill/>
        </p:spPr>
        <p:txBody>
          <a:bodyPr wrap="square" anchor="t" lIns="0" rIns="0" tIns="0" bIns="0">
            <a:spAutoFit/>
          </a:bodyPr>
          <a:lstStyle/>
          <a:p>
            <a:pPr algn="l">
              <a:spcAft>
                <a:spcPts val="855"/>
              </a:spcAft>
            </a:pPr>
            <a:r>
              <a:rPr sz="1900" b="1" i="0">
                <a:solidFill>
                  <a:srgbClr val="0F3B40"/>
                </a:solidFill>
                <a:latin typeface="Calibri"/>
              </a:rPr>
              <a:t>Random forest</a:t>
            </a:r>
          </a:p>
        </p:txBody>
      </p:sp>
      <p:sp>
        <p:nvSpPr>
          <p:cNvPr id="17" name="TextBox 16"/>
          <p:cNvSpPr txBox="1"/>
          <p:nvPr/>
        </p:nvSpPr>
        <p:spPr>
          <a:xfrm>
            <a:off x="6409944" y="3383280"/>
            <a:ext cx="2194560" cy="1463040"/>
          </a:xfrm>
          <a:prstGeom prst="rect">
            <a:avLst/>
          </a:prstGeom>
          <a:noFill/>
        </p:spPr>
        <p:txBody>
          <a:bodyPr wrap="square" anchor="t" lIns="0" rIns="0" tIns="0" bIns="0">
            <a:spAutoFit/>
          </a:bodyPr>
          <a:lstStyle/>
          <a:p>
            <a:pPr algn="l">
              <a:spcAft>
                <a:spcPts val="675"/>
              </a:spcAft>
            </a:pPr>
            <a:r>
              <a:rPr sz="1500" b="0" i="0">
                <a:solidFill>
                  <a:srgbClr val="1A1A1A"/>
                </a:solidFill>
                <a:latin typeface="Calibri"/>
              </a:rPr>
              <a:t>500 decision trees learn which k-mer patterns point to which species.</a:t>
            </a:r>
          </a:p>
        </p:txBody>
      </p:sp>
      <p:sp>
        <p:nvSpPr>
          <p:cNvPr id="18" name="TextBox 17"/>
          <p:cNvSpPr txBox="1"/>
          <p:nvPr/>
        </p:nvSpPr>
        <p:spPr>
          <a:xfrm>
            <a:off x="6409944" y="4892040"/>
            <a:ext cx="2194560" cy="914400"/>
          </a:xfrm>
          <a:prstGeom prst="rect">
            <a:avLst/>
          </a:prstGeom>
          <a:noFill/>
        </p:spPr>
        <p:txBody>
          <a:bodyPr wrap="square" anchor="t" lIns="0" rIns="0" tIns="0" bIns="0">
            <a:spAutoFit/>
          </a:bodyPr>
          <a:lstStyle/>
          <a:p>
            <a:pPr algn="l">
              <a:spcAft>
                <a:spcPts val="630"/>
              </a:spcAft>
            </a:pPr>
            <a:r>
              <a:rPr sz="1400" b="0" i="1">
                <a:solidFill>
                  <a:srgbClr val="8A5A00"/>
                </a:solidFill>
                <a:latin typeface="Calibri"/>
              </a:rPr>
              <a:t>Unknown? If its top probability is too low</a:t>
            </a:r>
          </a:p>
        </p:txBody>
      </p:sp>
      <p:sp>
        <p:nvSpPr>
          <p:cNvPr id="19" name="Rounded Rectangle 18"/>
          <p:cNvSpPr/>
          <p:nvPr/>
        </p:nvSpPr>
        <p:spPr>
          <a:xfrm>
            <a:off x="8997696" y="1463040"/>
            <a:ext cx="2606040" cy="4480560"/>
          </a:xfrm>
          <a:prstGeom prst="roundRect">
            <a:avLst>
              <a:gd name="adj" fmla="val 8000"/>
            </a:avLst>
          </a:prstGeom>
          <a:solidFill>
            <a:srgbClr val="E6F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226296" y="1691640"/>
            <a:ext cx="777240" cy="777240"/>
          </a:xfrm>
          <a:prstGeom prst="ellipse">
            <a:avLst/>
          </a:prstGeom>
          <a:solidFill>
            <a:srgbClr val="0F3B4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mbria"/>
              </a:rPr>
              <a:t>BCM</a:t>
            </a:r>
          </a:p>
        </p:txBody>
      </p:sp>
      <p:sp>
        <p:nvSpPr>
          <p:cNvPr id="21" name="TextBox 20"/>
          <p:cNvSpPr txBox="1"/>
          <p:nvPr/>
        </p:nvSpPr>
        <p:spPr>
          <a:xfrm>
            <a:off x="9226296" y="2651760"/>
            <a:ext cx="2194560" cy="731520"/>
          </a:xfrm>
          <a:prstGeom prst="rect">
            <a:avLst/>
          </a:prstGeom>
          <a:noFill/>
        </p:spPr>
        <p:txBody>
          <a:bodyPr wrap="square" anchor="t" lIns="0" rIns="0" tIns="0" bIns="0">
            <a:spAutoFit/>
          </a:bodyPr>
          <a:lstStyle/>
          <a:p>
            <a:pPr algn="l">
              <a:spcAft>
                <a:spcPts val="855"/>
              </a:spcAft>
            </a:pPr>
            <a:r>
              <a:rPr sz="1900" b="1" i="0">
                <a:solidFill>
                  <a:srgbClr val="0F3B40"/>
                </a:solidFill>
                <a:latin typeface="Calibri"/>
              </a:rPr>
              <a:t>Best close match</a:t>
            </a:r>
          </a:p>
        </p:txBody>
      </p:sp>
      <p:sp>
        <p:nvSpPr>
          <p:cNvPr id="22" name="TextBox 21"/>
          <p:cNvSpPr txBox="1"/>
          <p:nvPr/>
        </p:nvSpPr>
        <p:spPr>
          <a:xfrm>
            <a:off x="9226296" y="3383280"/>
            <a:ext cx="2194560" cy="1463040"/>
          </a:xfrm>
          <a:prstGeom prst="rect">
            <a:avLst/>
          </a:prstGeom>
          <a:noFill/>
        </p:spPr>
        <p:txBody>
          <a:bodyPr wrap="square" anchor="t" lIns="0" rIns="0" tIns="0" bIns="0">
            <a:spAutoFit/>
          </a:bodyPr>
          <a:lstStyle/>
          <a:p>
            <a:pPr algn="l">
              <a:spcAft>
                <a:spcPts val="675"/>
              </a:spcAft>
            </a:pPr>
            <a:r>
              <a:rPr sz="1500" b="0" i="0">
                <a:solidFill>
                  <a:srgbClr val="1A1A1A"/>
                </a:solidFill>
                <a:latin typeface="Calibri"/>
              </a:rPr>
              <a:t>Classic barcoding rule: species of the closest reference barcode (K2P distance).</a:t>
            </a:r>
          </a:p>
        </p:txBody>
      </p:sp>
      <p:sp>
        <p:nvSpPr>
          <p:cNvPr id="23" name="TextBox 22"/>
          <p:cNvSpPr txBox="1"/>
          <p:nvPr/>
        </p:nvSpPr>
        <p:spPr>
          <a:xfrm>
            <a:off x="9226296" y="4892040"/>
            <a:ext cx="2194560" cy="914400"/>
          </a:xfrm>
          <a:prstGeom prst="rect">
            <a:avLst/>
          </a:prstGeom>
          <a:noFill/>
        </p:spPr>
        <p:txBody>
          <a:bodyPr wrap="square" anchor="t" lIns="0" rIns="0" tIns="0" bIns="0">
            <a:spAutoFit/>
          </a:bodyPr>
          <a:lstStyle/>
          <a:p>
            <a:pPr algn="l">
              <a:spcAft>
                <a:spcPts val="630"/>
              </a:spcAft>
            </a:pPr>
            <a:r>
              <a:rPr sz="1400" b="0" i="1">
                <a:solidFill>
                  <a:srgbClr val="8A5A00"/>
                </a:solidFill>
                <a:latin typeface="Calibri"/>
              </a:rPr>
              <a:t>Unknown? If the closest one is beyond a cut-off</a:t>
            </a:r>
          </a:p>
        </p:txBody>
      </p:sp>
      <p:sp>
        <p:nvSpPr>
          <p:cNvPr id="24" name="TextBox 23"/>
          <p:cNvSpPr txBox="1"/>
          <p:nvPr/>
        </p:nvSpPr>
        <p:spPr>
          <a:xfrm>
            <a:off x="548640" y="6126480"/>
            <a:ext cx="11064240" cy="457200"/>
          </a:xfrm>
          <a:prstGeom prst="rect">
            <a:avLst/>
          </a:prstGeom>
          <a:noFill/>
        </p:spPr>
        <p:txBody>
          <a:bodyPr wrap="square" anchor="t" lIns="0" rIns="0" tIns="0" bIns="0">
            <a:spAutoFit/>
          </a:bodyPr>
          <a:lstStyle/>
          <a:p>
            <a:pPr algn="l">
              <a:spcAft>
                <a:spcPts val="585"/>
              </a:spcAft>
            </a:pPr>
            <a:r>
              <a:rPr sz="1300" b="0" i="0">
                <a:solidFill>
                  <a:srgbClr val="5A5A55"/>
                </a:solidFill>
                <a:latin typeface="Calibri"/>
              </a:rPr>
              <a:t>k-NN and RF use k-mer frequencies (k = 4 and k = 6); 'unknown' thresholds are calibrated on training data only, accepting 95% of known species.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277295" y="6400800"/>
            <a:ext cx="457200" cy="274320"/>
          </a:xfrm>
          <a:prstGeom prst="rect">
            <a:avLst/>
          </a:prstGeom>
          <a:noFill/>
        </p:spPr>
        <p:txBody>
          <a:bodyPr wrap="square" anchor="t" lIns="0" rIns="0" tIns="0" bIns="0">
            <a:spAutoFit/>
          </a:bodyPr>
          <a:lstStyle/>
          <a:p>
            <a:pPr algn="r">
              <a:spcAft>
                <a:spcPts val="450"/>
              </a:spcAft>
            </a:pPr>
            <a:r>
              <a:rPr sz="1000" b="0" i="0">
                <a:solidFill>
                  <a:srgbClr val="5A5A55"/>
                </a:solidFill>
                <a:latin typeface="Calibri"/>
              </a:rPr>
              <a:t>5</a:t>
            </a:r>
          </a:p>
        </p:txBody>
      </p:sp>
      <p:sp>
        <p:nvSpPr>
          <p:cNvPr id="3" name="TextBox 2"/>
          <p:cNvSpPr txBox="1"/>
          <p:nvPr/>
        </p:nvSpPr>
        <p:spPr>
          <a:xfrm>
            <a:off x="548640" y="411480"/>
            <a:ext cx="11094415" cy="822960"/>
          </a:xfrm>
          <a:prstGeom prst="rect">
            <a:avLst/>
          </a:prstGeom>
          <a:noFill/>
        </p:spPr>
        <p:txBody>
          <a:bodyPr wrap="square" anchor="t" lIns="0" rIns="0" tIns="0" bIns="0">
            <a:spAutoFit/>
          </a:bodyPr>
          <a:lstStyle/>
          <a:p>
            <a:pPr algn="l">
              <a:spcAft>
                <a:spcPts val="1530"/>
              </a:spcAft>
            </a:pPr>
            <a:r>
              <a:rPr sz="3400" b="1" i="0">
                <a:solidFill>
                  <a:srgbClr val="0F3B40"/>
                </a:solidFill>
                <a:latin typeface="Cambria"/>
              </a:rPr>
              <a:t>Experiment: from one split to every species</a:t>
            </a:r>
          </a:p>
        </p:txBody>
      </p:sp>
      <p:sp>
        <p:nvSpPr>
          <p:cNvPr id="4" name="Rounded Rectangle 3"/>
          <p:cNvSpPr/>
          <p:nvPr/>
        </p:nvSpPr>
        <p:spPr>
          <a:xfrm>
            <a:off x="548640" y="1737360"/>
            <a:ext cx="2560320" cy="2834640"/>
          </a:xfrm>
          <a:prstGeom prst="roundRect">
            <a:avLst>
              <a:gd name="adj" fmla="val 8000"/>
            </a:avLst>
          </a:prstGeom>
          <a:solidFill>
            <a:srgbClr val="E6F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77240" y="1965960"/>
            <a:ext cx="566928" cy="566928"/>
          </a:xfrm>
          <a:prstGeom prst="ellipse">
            <a:avLst/>
          </a:prstGeom>
          <a:solidFill>
            <a:srgbClr val="0F3B4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mbria"/>
              </a:rPr>
              <a:t>1</a:t>
            </a:r>
          </a:p>
        </p:txBody>
      </p:sp>
      <p:sp>
        <p:nvSpPr>
          <p:cNvPr id="6" name="TextBox 5"/>
          <p:cNvSpPr txBox="1"/>
          <p:nvPr/>
        </p:nvSpPr>
        <p:spPr>
          <a:xfrm>
            <a:off x="777240" y="2743200"/>
            <a:ext cx="2194560" cy="457200"/>
          </a:xfrm>
          <a:prstGeom prst="rect">
            <a:avLst/>
          </a:prstGeom>
          <a:noFill/>
        </p:spPr>
        <p:txBody>
          <a:bodyPr wrap="square" anchor="t" lIns="0" rIns="0" tIns="0" bIns="0">
            <a:spAutoFit/>
          </a:bodyPr>
          <a:lstStyle/>
          <a:p>
            <a:pPr algn="l">
              <a:spcAft>
                <a:spcPts val="900"/>
              </a:spcAft>
            </a:pPr>
            <a:r>
              <a:rPr sz="2000" b="1" i="0">
                <a:solidFill>
                  <a:srgbClr val="0F3B40"/>
                </a:solidFill>
                <a:latin typeface="Calibri"/>
              </a:rPr>
              <a:t>Condition A</a:t>
            </a:r>
          </a:p>
        </p:txBody>
      </p:sp>
      <p:sp>
        <p:nvSpPr>
          <p:cNvPr id="7" name="TextBox 6"/>
          <p:cNvSpPr txBox="1"/>
          <p:nvPr/>
        </p:nvSpPr>
        <p:spPr>
          <a:xfrm>
            <a:off x="777240" y="3291840"/>
            <a:ext cx="2194560" cy="1188720"/>
          </a:xfrm>
          <a:prstGeom prst="rect">
            <a:avLst/>
          </a:prstGeom>
          <a:noFill/>
        </p:spPr>
        <p:txBody>
          <a:bodyPr wrap="square" anchor="t" lIns="0" rIns="0" tIns="0" bIns="0">
            <a:spAutoFit/>
          </a:bodyPr>
          <a:lstStyle/>
          <a:p>
            <a:pPr algn="l">
              <a:spcAft>
                <a:spcPts val="675"/>
              </a:spcAft>
            </a:pPr>
            <a:r>
              <a:rPr sz="1500" b="0" i="0">
                <a:solidFill>
                  <a:srgbClr val="1A1A1A"/>
                </a:solidFill>
                <a:latin typeface="Calibri"/>
              </a:rPr>
              <a:t>70/30 split within each species
543 train · 236 test queries</a:t>
            </a:r>
          </a:p>
        </p:txBody>
      </p:sp>
      <p:sp>
        <p:nvSpPr>
          <p:cNvPr id="8" name="Right Arrow 7"/>
          <p:cNvSpPr/>
          <p:nvPr/>
        </p:nvSpPr>
        <p:spPr>
          <a:xfrm>
            <a:off x="3136392" y="3017520"/>
            <a:ext cx="219456" cy="320040"/>
          </a:xfrm>
          <a:prstGeom prst="rightArrow">
            <a:avLst/>
          </a:prstGeom>
          <a:solidFill>
            <a:srgbClr val="5A5A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383280" y="1737360"/>
            <a:ext cx="2560320" cy="2834640"/>
          </a:xfrm>
          <a:prstGeom prst="roundRect">
            <a:avLst>
              <a:gd name="adj" fmla="val 8000"/>
            </a:avLst>
          </a:prstGeom>
          <a:solidFill>
            <a:srgbClr val="E6F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3611880" y="1965960"/>
            <a:ext cx="566928" cy="566928"/>
          </a:xfrm>
          <a:prstGeom prst="ellipse">
            <a:avLst/>
          </a:prstGeom>
          <a:solidFill>
            <a:srgbClr val="0F3B4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mbria"/>
              </a:rPr>
              <a:t>2</a:t>
            </a:r>
          </a:p>
        </p:txBody>
      </p:sp>
      <p:sp>
        <p:nvSpPr>
          <p:cNvPr id="11" name="TextBox 10"/>
          <p:cNvSpPr txBox="1"/>
          <p:nvPr/>
        </p:nvSpPr>
        <p:spPr>
          <a:xfrm>
            <a:off x="3611880" y="2743200"/>
            <a:ext cx="2194560" cy="457200"/>
          </a:xfrm>
          <a:prstGeom prst="rect">
            <a:avLst/>
          </a:prstGeom>
          <a:noFill/>
        </p:spPr>
        <p:txBody>
          <a:bodyPr wrap="square" anchor="t" lIns="0" rIns="0" tIns="0" bIns="0">
            <a:spAutoFit/>
          </a:bodyPr>
          <a:lstStyle/>
          <a:p>
            <a:pPr algn="l">
              <a:spcAft>
                <a:spcPts val="900"/>
              </a:spcAft>
            </a:pPr>
            <a:r>
              <a:rPr sz="2000" b="1" i="0">
                <a:solidFill>
                  <a:srgbClr val="0F3B40"/>
                </a:solidFill>
                <a:latin typeface="Calibri"/>
              </a:rPr>
              <a:t>Condition B</a:t>
            </a:r>
          </a:p>
        </p:txBody>
      </p:sp>
      <p:sp>
        <p:nvSpPr>
          <p:cNvPr id="12" name="TextBox 11"/>
          <p:cNvSpPr txBox="1"/>
          <p:nvPr/>
        </p:nvSpPr>
        <p:spPr>
          <a:xfrm>
            <a:off x="3611880" y="3291840"/>
            <a:ext cx="2194560" cy="1188720"/>
          </a:xfrm>
          <a:prstGeom prst="rect">
            <a:avLst/>
          </a:prstGeom>
          <a:noFill/>
        </p:spPr>
        <p:txBody>
          <a:bodyPr wrap="square" anchor="t" lIns="0" rIns="0" tIns="0" bIns="0">
            <a:spAutoFit/>
          </a:bodyPr>
          <a:lstStyle/>
          <a:p>
            <a:pPr algn="l">
              <a:spcAft>
                <a:spcPts val="675"/>
              </a:spcAft>
            </a:pPr>
            <a:r>
              <a:rPr sz="1500" b="0" i="0">
                <a:solidFill>
                  <a:srgbClr val="1A1A1A"/>
                </a:solidFill>
                <a:latin typeface="Calibri"/>
              </a:rPr>
              <a:t>8 species removed entirely
139 unknown queries</a:t>
            </a:r>
          </a:p>
        </p:txBody>
      </p:sp>
      <p:sp>
        <p:nvSpPr>
          <p:cNvPr id="13" name="Right Arrow 12"/>
          <p:cNvSpPr/>
          <p:nvPr/>
        </p:nvSpPr>
        <p:spPr>
          <a:xfrm>
            <a:off x="5971032" y="3017520"/>
            <a:ext cx="219456" cy="320040"/>
          </a:xfrm>
          <a:prstGeom prst="rightArrow">
            <a:avLst/>
          </a:prstGeom>
          <a:solidFill>
            <a:srgbClr val="5A5A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17920" y="1737360"/>
            <a:ext cx="2560320" cy="2834640"/>
          </a:xfrm>
          <a:prstGeom prst="roundRect">
            <a:avLst>
              <a:gd name="adj" fmla="val 8000"/>
            </a:avLst>
          </a:prstGeom>
          <a:solidFill>
            <a:srgbClr val="E6F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446520" y="1965960"/>
            <a:ext cx="566928" cy="566928"/>
          </a:xfrm>
          <a:prstGeom prst="ellipse">
            <a:avLst/>
          </a:prstGeom>
          <a:solidFill>
            <a:srgbClr val="0F3B4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mbria"/>
              </a:rPr>
              <a:t>3</a:t>
            </a:r>
          </a:p>
        </p:txBody>
      </p:sp>
      <p:sp>
        <p:nvSpPr>
          <p:cNvPr id="16" name="TextBox 15"/>
          <p:cNvSpPr txBox="1"/>
          <p:nvPr/>
        </p:nvSpPr>
        <p:spPr>
          <a:xfrm>
            <a:off x="6446520" y="2743200"/>
            <a:ext cx="2194560" cy="457200"/>
          </a:xfrm>
          <a:prstGeom prst="rect">
            <a:avLst/>
          </a:prstGeom>
          <a:noFill/>
        </p:spPr>
        <p:txBody>
          <a:bodyPr wrap="square" anchor="t" lIns="0" rIns="0" tIns="0" bIns="0">
            <a:spAutoFit/>
          </a:bodyPr>
          <a:lstStyle/>
          <a:p>
            <a:pPr algn="l">
              <a:spcAft>
                <a:spcPts val="900"/>
              </a:spcAft>
            </a:pPr>
            <a:r>
              <a:rPr sz="2000" b="1" i="0">
                <a:solidFill>
                  <a:srgbClr val="0F3B40"/>
                </a:solidFill>
                <a:latin typeface="Calibri"/>
              </a:rPr>
              <a:t>3 more seeds</a:t>
            </a:r>
          </a:p>
        </p:txBody>
      </p:sp>
      <p:sp>
        <p:nvSpPr>
          <p:cNvPr id="17" name="TextBox 16"/>
          <p:cNvSpPr txBox="1"/>
          <p:nvPr/>
        </p:nvSpPr>
        <p:spPr>
          <a:xfrm>
            <a:off x="6446520" y="3291840"/>
            <a:ext cx="2194560" cy="1188720"/>
          </a:xfrm>
          <a:prstGeom prst="rect">
            <a:avLst/>
          </a:prstGeom>
          <a:noFill/>
        </p:spPr>
        <p:txBody>
          <a:bodyPr wrap="square" anchor="t" lIns="0" rIns="0" tIns="0" bIns="0">
            <a:spAutoFit/>
          </a:bodyPr>
          <a:lstStyle/>
          <a:p>
            <a:pPr algn="l">
              <a:spcAft>
                <a:spcPts val="675"/>
              </a:spcAft>
            </a:pPr>
            <a:r>
              <a:rPr sz="1500" b="0" i="0">
                <a:solidFill>
                  <a:srgbClr val="1A1A1A"/>
                </a:solidFill>
                <a:latin typeface="Calibri"/>
              </a:rPr>
              <a:t>new splits and new
held-out species</a:t>
            </a:r>
          </a:p>
        </p:txBody>
      </p:sp>
      <p:sp>
        <p:nvSpPr>
          <p:cNvPr id="18" name="Right Arrow 17"/>
          <p:cNvSpPr/>
          <p:nvPr/>
        </p:nvSpPr>
        <p:spPr>
          <a:xfrm>
            <a:off x="8805672" y="3017520"/>
            <a:ext cx="219456" cy="320040"/>
          </a:xfrm>
          <a:prstGeom prst="rightArrow">
            <a:avLst/>
          </a:prstGeom>
          <a:solidFill>
            <a:srgbClr val="5A5A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052560" y="1737360"/>
            <a:ext cx="2560320" cy="2834640"/>
          </a:xfrm>
          <a:prstGeom prst="roundRect">
            <a:avLst>
              <a:gd name="adj" fmla="val 8000"/>
            </a:avLst>
          </a:prstGeom>
          <a:solidFill>
            <a:srgbClr val="FBF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281160" y="1965960"/>
            <a:ext cx="566928" cy="566928"/>
          </a:xfrm>
          <a:prstGeom prst="ellipse">
            <a:avLst/>
          </a:prstGeom>
          <a:solidFill>
            <a:srgbClr val="E09F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mbria"/>
              </a:rPr>
              <a:t>4</a:t>
            </a:r>
          </a:p>
        </p:txBody>
      </p:sp>
      <p:sp>
        <p:nvSpPr>
          <p:cNvPr id="21" name="TextBox 20"/>
          <p:cNvSpPr txBox="1"/>
          <p:nvPr/>
        </p:nvSpPr>
        <p:spPr>
          <a:xfrm>
            <a:off x="9281160" y="2743200"/>
            <a:ext cx="2194560" cy="457200"/>
          </a:xfrm>
          <a:prstGeom prst="rect">
            <a:avLst/>
          </a:prstGeom>
          <a:noFill/>
        </p:spPr>
        <p:txBody>
          <a:bodyPr wrap="square" anchor="t" lIns="0" rIns="0" tIns="0" bIns="0">
            <a:spAutoFit/>
          </a:bodyPr>
          <a:lstStyle/>
          <a:p>
            <a:pPr algn="l">
              <a:spcAft>
                <a:spcPts val="900"/>
              </a:spcAft>
            </a:pPr>
            <a:r>
              <a:rPr sz="2000" b="1" i="0">
                <a:solidFill>
                  <a:srgbClr val="0F3B40"/>
                </a:solidFill>
                <a:latin typeface="Calibri"/>
              </a:rPr>
              <a:t>Every species once</a:t>
            </a:r>
          </a:p>
        </p:txBody>
      </p:sp>
      <p:sp>
        <p:nvSpPr>
          <p:cNvPr id="22" name="TextBox 21"/>
          <p:cNvSpPr txBox="1"/>
          <p:nvPr/>
        </p:nvSpPr>
        <p:spPr>
          <a:xfrm>
            <a:off x="9281160" y="3291840"/>
            <a:ext cx="2194560" cy="1188720"/>
          </a:xfrm>
          <a:prstGeom prst="rect">
            <a:avLst/>
          </a:prstGeom>
          <a:noFill/>
        </p:spPr>
        <p:txBody>
          <a:bodyPr wrap="square" anchor="t" lIns="0" rIns="0" tIns="0" bIns="0">
            <a:spAutoFit/>
          </a:bodyPr>
          <a:lstStyle/>
          <a:p>
            <a:pPr algn="l">
              <a:spcAft>
                <a:spcPts val="675"/>
              </a:spcAft>
            </a:pPr>
            <a:r>
              <a:rPr sz="1500" b="0" i="0">
                <a:solidFill>
                  <a:srgbClr val="1A1A1A"/>
                </a:solidFill>
                <a:latin typeface="Calibri"/>
              </a:rPr>
              <a:t>each of 39 species held out
alone: no luck involved</a:t>
            </a:r>
          </a:p>
        </p:txBody>
      </p:sp>
      <p:sp>
        <p:nvSpPr>
          <p:cNvPr id="23" name="TextBox 22"/>
          <p:cNvSpPr txBox="1"/>
          <p:nvPr/>
        </p:nvSpPr>
        <p:spPr>
          <a:xfrm>
            <a:off x="548640" y="5029200"/>
            <a:ext cx="11064240" cy="731520"/>
          </a:xfrm>
          <a:prstGeom prst="rect">
            <a:avLst/>
          </a:prstGeom>
          <a:noFill/>
        </p:spPr>
        <p:txBody>
          <a:bodyPr wrap="square" anchor="t" lIns="0" rIns="0" tIns="0" bIns="0">
            <a:spAutoFit/>
          </a:bodyPr>
          <a:lstStyle/>
          <a:p>
            <a:pPr algn="l">
              <a:spcAft>
                <a:spcPts val="720"/>
              </a:spcAft>
            </a:pPr>
            <a:r>
              <a:rPr sz="1600" b="1" i="0">
                <a:solidFill>
                  <a:srgbClr val="5A5A55"/>
                </a:solidFill>
                <a:latin typeface="Calibri"/>
              </a:rPr>
              <a:t>Also: </a:t>
            </a:r>
            <a:r>
              <a:rPr sz="1600" b="0" i="0">
                <a:solidFill>
                  <a:srgbClr val="5A5A55"/>
                </a:solidFill>
                <a:latin typeface="Calibri"/>
              </a:rPr>
              <a:t>species-level confidence intervals and McNemar tests · thresholds at 90/95/99% · runtime on the same laptop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277295" y="6400800"/>
            <a:ext cx="457200" cy="274320"/>
          </a:xfrm>
          <a:prstGeom prst="rect">
            <a:avLst/>
          </a:prstGeom>
          <a:noFill/>
        </p:spPr>
        <p:txBody>
          <a:bodyPr wrap="square" anchor="t" lIns="0" rIns="0" tIns="0" bIns="0">
            <a:spAutoFit/>
          </a:bodyPr>
          <a:lstStyle/>
          <a:p>
            <a:pPr algn="r">
              <a:spcAft>
                <a:spcPts val="450"/>
              </a:spcAft>
            </a:pPr>
            <a:r>
              <a:rPr sz="1000" b="0" i="0">
                <a:solidFill>
                  <a:srgbClr val="5A5A55"/>
                </a:solidFill>
                <a:latin typeface="Calibri"/>
              </a:rPr>
              <a:t>6</a:t>
            </a:r>
          </a:p>
        </p:txBody>
      </p:sp>
      <p:sp>
        <p:nvSpPr>
          <p:cNvPr id="3" name="TextBox 2"/>
          <p:cNvSpPr txBox="1"/>
          <p:nvPr/>
        </p:nvSpPr>
        <p:spPr>
          <a:xfrm>
            <a:off x="548640" y="411480"/>
            <a:ext cx="11094415" cy="822960"/>
          </a:xfrm>
          <a:prstGeom prst="rect">
            <a:avLst/>
          </a:prstGeom>
          <a:noFill/>
        </p:spPr>
        <p:txBody>
          <a:bodyPr wrap="square" anchor="t" lIns="0" rIns="0" tIns="0" bIns="0">
            <a:spAutoFit/>
          </a:bodyPr>
          <a:lstStyle/>
          <a:p>
            <a:pPr algn="l">
              <a:spcAft>
                <a:spcPts val="1530"/>
              </a:spcAft>
            </a:pPr>
            <a:r>
              <a:rPr sz="3400" b="1" i="0">
                <a:solidFill>
                  <a:srgbClr val="0F3B40"/>
                </a:solidFill>
                <a:latin typeface="Cambria"/>
              </a:rPr>
              <a:t>Known species: all methods are equally good</a:t>
            </a:r>
          </a:p>
        </p:txBody>
      </p:sp>
      <p:pic>
        <p:nvPicPr>
          <p:cNvPr id="4" name="Picture 3" descr="accuracy_A.png"/>
          <p:cNvPicPr>
            <a:picLocks noChangeAspect="1"/>
          </p:cNvPicPr>
          <p:nvPr/>
        </p:nvPicPr>
        <p:blipFill>
          <a:blip r:embed="rId3"/>
          <a:stretch>
            <a:fillRect/>
          </a:stretch>
        </p:blipFill>
        <p:spPr>
          <a:xfrm>
            <a:off x="457200" y="1325880"/>
            <a:ext cx="6949440" cy="3971108"/>
          </a:xfrm>
          <a:prstGeom prst="rect">
            <a:avLst/>
          </a:prstGeom>
        </p:spPr>
      </p:pic>
      <p:sp>
        <p:nvSpPr>
          <p:cNvPr id="5" name="TextBox 4"/>
          <p:cNvSpPr txBox="1"/>
          <p:nvPr/>
        </p:nvSpPr>
        <p:spPr>
          <a:xfrm>
            <a:off x="7863840" y="1554480"/>
            <a:ext cx="3840480" cy="868680"/>
          </a:xfrm>
          <a:prstGeom prst="rect">
            <a:avLst/>
          </a:prstGeom>
          <a:noFill/>
        </p:spPr>
        <p:txBody>
          <a:bodyPr wrap="square" anchor="t" lIns="0" rIns="0" tIns="0" bIns="0">
            <a:spAutoFit/>
          </a:bodyPr>
          <a:lstStyle/>
          <a:p>
            <a:pPr algn="l">
              <a:spcAft>
                <a:spcPts val="2430"/>
              </a:spcAft>
            </a:pPr>
            <a:r>
              <a:rPr sz="5400" b="1" i="0">
                <a:solidFill>
                  <a:srgbClr val="0F3B40"/>
                </a:solidFill>
                <a:latin typeface="Cambria"/>
              </a:rPr>
              <a:t>~92%</a:t>
            </a:r>
          </a:p>
        </p:txBody>
      </p:sp>
      <p:sp>
        <p:nvSpPr>
          <p:cNvPr id="6" name="TextBox 5"/>
          <p:cNvSpPr txBox="1"/>
          <p:nvPr/>
        </p:nvSpPr>
        <p:spPr>
          <a:xfrm>
            <a:off x="7863840" y="2423160"/>
            <a:ext cx="3840480" cy="731520"/>
          </a:xfrm>
          <a:prstGeom prst="rect">
            <a:avLst/>
          </a:prstGeom>
          <a:noFill/>
        </p:spPr>
        <p:txBody>
          <a:bodyPr wrap="square" anchor="t" lIns="0" rIns="0" tIns="0" bIns="0">
            <a:spAutoFit/>
          </a:bodyPr>
          <a:lstStyle/>
          <a:p>
            <a:pPr algn="l">
              <a:spcAft>
                <a:spcPts val="630"/>
              </a:spcAft>
            </a:pPr>
            <a:r>
              <a:rPr sz="1400" b="0" i="0">
                <a:solidFill>
                  <a:srgbClr val="5A5A55"/>
                </a:solidFill>
                <a:latin typeface="Calibri"/>
              </a:rPr>
              <a:t>correct for the NJ tree, k-NN
and random forest (Condition A)</a:t>
            </a:r>
          </a:p>
        </p:txBody>
      </p:sp>
      <p:sp>
        <p:nvSpPr>
          <p:cNvPr id="7" name="TextBox 6"/>
          <p:cNvSpPr txBox="1"/>
          <p:nvPr/>
        </p:nvSpPr>
        <p:spPr>
          <a:xfrm>
            <a:off x="7863840" y="3291840"/>
            <a:ext cx="3840480" cy="2377440"/>
          </a:xfrm>
          <a:prstGeom prst="rect">
            <a:avLst/>
          </a:prstGeom>
          <a:noFill/>
        </p:spPr>
        <p:txBody>
          <a:bodyPr wrap="square" anchor="t" lIns="0" rIns="0" tIns="0" bIns="0">
            <a:spAutoFit/>
          </a:bodyPr>
          <a:lstStyle/>
          <a:p>
            <a:pPr algn="l">
              <a:spcAft>
                <a:spcPts val="765"/>
              </a:spcAft>
            </a:pPr>
            <a:r>
              <a:rPr sz="1700" b="1" i="0">
                <a:solidFill>
                  <a:srgbClr val="0F3B40"/>
                </a:solidFill>
                <a:latin typeface="Calibri"/>
              </a:rPr>
              <a:t>No significant difference </a:t>
            </a:r>
            <a:r>
              <a:rPr sz="1700" b="0" i="0">
                <a:solidFill>
                  <a:srgbClr val="1A1A1A"/>
                </a:solidFill>
                <a:latin typeface="Calibri"/>
              </a:rPr>
              <a:t>between the tree and any classifier (Holm p = 1.0).</a:t>
            </a:r>
          </a:p>
          <a:p>
            <a:pPr algn="l">
              <a:spcAft>
                <a:spcPts val="765"/>
              </a:spcAft>
            </a:pPr>
            <a:r>
              <a:rPr sz="1700" b="0" i="0">
                <a:solidFill>
                  <a:srgbClr val="1A1A1A"/>
                </a:solidFill>
                <a:latin typeface="Calibri"/>
              </a:rPr>
              <a:t>Their errors are all between species that share a barcode with a close relative. Best close match is lower: it answers 'ambiguous' for those.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277295" y="6400800"/>
            <a:ext cx="457200" cy="274320"/>
          </a:xfrm>
          <a:prstGeom prst="rect">
            <a:avLst/>
          </a:prstGeom>
          <a:noFill/>
        </p:spPr>
        <p:txBody>
          <a:bodyPr wrap="square" anchor="t" lIns="0" rIns="0" tIns="0" bIns="0">
            <a:spAutoFit/>
          </a:bodyPr>
          <a:lstStyle/>
          <a:p>
            <a:pPr algn="r">
              <a:spcAft>
                <a:spcPts val="450"/>
              </a:spcAft>
            </a:pPr>
            <a:r>
              <a:rPr sz="1000" b="0" i="0">
                <a:solidFill>
                  <a:srgbClr val="5A5A55"/>
                </a:solidFill>
                <a:latin typeface="Calibri"/>
              </a:rPr>
              <a:t>7</a:t>
            </a:r>
          </a:p>
        </p:txBody>
      </p:sp>
      <p:sp>
        <p:nvSpPr>
          <p:cNvPr id="3" name="TextBox 2"/>
          <p:cNvSpPr txBox="1"/>
          <p:nvPr/>
        </p:nvSpPr>
        <p:spPr>
          <a:xfrm>
            <a:off x="548640" y="411480"/>
            <a:ext cx="11094415" cy="822960"/>
          </a:xfrm>
          <a:prstGeom prst="rect">
            <a:avLst/>
          </a:prstGeom>
          <a:noFill/>
        </p:spPr>
        <p:txBody>
          <a:bodyPr wrap="square" anchor="t" lIns="0" rIns="0" tIns="0" bIns="0">
            <a:spAutoFit/>
          </a:bodyPr>
          <a:lstStyle/>
          <a:p>
            <a:pPr algn="l">
              <a:spcAft>
                <a:spcPts val="1530"/>
              </a:spcAft>
            </a:pPr>
            <a:r>
              <a:rPr sz="3400" b="1" i="0">
                <a:solidFill>
                  <a:srgbClr val="0F3B40"/>
                </a:solidFill>
                <a:latin typeface="Cambria"/>
              </a:rPr>
              <a:t>Unknown species: the methods split apart</a:t>
            </a:r>
          </a:p>
        </p:txBody>
      </p:sp>
      <p:pic>
        <p:nvPicPr>
          <p:cNvPr id="4" name="Picture 3" descr="condition_B_outcomes.png"/>
          <p:cNvPicPr>
            <a:picLocks noChangeAspect="1"/>
          </p:cNvPicPr>
          <p:nvPr/>
        </p:nvPicPr>
        <p:blipFill>
          <a:blip r:embed="rId3"/>
          <a:stretch>
            <a:fillRect/>
          </a:stretch>
        </p:blipFill>
        <p:spPr>
          <a:xfrm>
            <a:off x="365760" y="1234440"/>
            <a:ext cx="7641771" cy="5349240"/>
          </a:xfrm>
          <a:prstGeom prst="rect">
            <a:avLst/>
          </a:prstGeom>
        </p:spPr>
      </p:pic>
      <p:sp>
        <p:nvSpPr>
          <p:cNvPr id="5" name="TextBox 4"/>
          <p:cNvSpPr txBox="1"/>
          <p:nvPr/>
        </p:nvSpPr>
        <p:spPr>
          <a:xfrm>
            <a:off x="8321040" y="1463040"/>
            <a:ext cx="3474720" cy="868680"/>
          </a:xfrm>
          <a:prstGeom prst="rect">
            <a:avLst/>
          </a:prstGeom>
          <a:noFill/>
        </p:spPr>
        <p:txBody>
          <a:bodyPr wrap="square" anchor="t" lIns="0" rIns="0" tIns="0" bIns="0">
            <a:spAutoFit/>
          </a:bodyPr>
          <a:lstStyle/>
          <a:p>
            <a:pPr algn="l">
              <a:spcAft>
                <a:spcPts val="2250"/>
              </a:spcAft>
            </a:pPr>
            <a:r>
              <a:rPr sz="5000" b="1" i="0">
                <a:solidFill>
                  <a:srgbClr val="C03535"/>
                </a:solidFill>
                <a:latin typeface="Cambria"/>
              </a:rPr>
              <a:t>67%</a:t>
            </a:r>
          </a:p>
        </p:txBody>
      </p:sp>
      <p:sp>
        <p:nvSpPr>
          <p:cNvPr id="6" name="TextBox 5"/>
          <p:cNvSpPr txBox="1"/>
          <p:nvPr/>
        </p:nvSpPr>
        <p:spPr>
          <a:xfrm>
            <a:off x="8321040" y="2331720"/>
            <a:ext cx="3474720" cy="731520"/>
          </a:xfrm>
          <a:prstGeom prst="rect">
            <a:avLst/>
          </a:prstGeom>
          <a:noFill/>
        </p:spPr>
        <p:txBody>
          <a:bodyPr wrap="square" anchor="t" lIns="0" rIns="0" tIns="0" bIns="0">
            <a:spAutoFit/>
          </a:bodyPr>
          <a:lstStyle/>
          <a:p>
            <a:pPr algn="l">
              <a:spcAft>
                <a:spcPts val="630"/>
              </a:spcAft>
            </a:pPr>
            <a:r>
              <a:rPr sz="1400" b="0" i="0">
                <a:solidFill>
                  <a:srgbClr val="5A5A55"/>
                </a:solidFill>
                <a:latin typeface="Calibri"/>
              </a:rPr>
              <a:t>NJ tree: unknown species
given a wrong name</a:t>
            </a:r>
          </a:p>
        </p:txBody>
      </p:sp>
      <p:sp>
        <p:nvSpPr>
          <p:cNvPr id="7" name="TextBox 6"/>
          <p:cNvSpPr txBox="1"/>
          <p:nvPr/>
        </p:nvSpPr>
        <p:spPr>
          <a:xfrm>
            <a:off x="8321040" y="3246120"/>
            <a:ext cx="3474720" cy="868680"/>
          </a:xfrm>
          <a:prstGeom prst="rect">
            <a:avLst/>
          </a:prstGeom>
          <a:noFill/>
        </p:spPr>
        <p:txBody>
          <a:bodyPr wrap="square" anchor="t" lIns="0" rIns="0" tIns="0" bIns="0">
            <a:spAutoFit/>
          </a:bodyPr>
          <a:lstStyle/>
          <a:p>
            <a:pPr algn="l">
              <a:spcAft>
                <a:spcPts val="2250"/>
              </a:spcAft>
            </a:pPr>
            <a:r>
              <a:rPr sz="5000" b="1" i="0">
                <a:solidFill>
                  <a:srgbClr val="0C8A0C"/>
                </a:solidFill>
                <a:latin typeface="Cambria"/>
              </a:rPr>
              <a:t>0%</a:t>
            </a:r>
          </a:p>
        </p:txBody>
      </p:sp>
      <p:sp>
        <p:nvSpPr>
          <p:cNvPr id="8" name="TextBox 7"/>
          <p:cNvSpPr txBox="1"/>
          <p:nvPr/>
        </p:nvSpPr>
        <p:spPr>
          <a:xfrm>
            <a:off x="8321040" y="4114800"/>
            <a:ext cx="3474720" cy="731520"/>
          </a:xfrm>
          <a:prstGeom prst="rect">
            <a:avLst/>
          </a:prstGeom>
          <a:noFill/>
        </p:spPr>
        <p:txBody>
          <a:bodyPr wrap="square" anchor="t" lIns="0" rIns="0" tIns="0" bIns="0">
            <a:spAutoFit/>
          </a:bodyPr>
          <a:lstStyle/>
          <a:p>
            <a:pPr algn="l">
              <a:spcAft>
                <a:spcPts val="630"/>
              </a:spcAft>
            </a:pPr>
            <a:r>
              <a:rPr sz="1400" b="0" i="0">
                <a:solidFill>
                  <a:srgbClr val="5A5A55"/>
                </a:solidFill>
                <a:latin typeface="Calibri"/>
              </a:rPr>
              <a:t>k-NN with its threshold:
all flagged 'unknown'</a:t>
            </a:r>
          </a:p>
        </p:txBody>
      </p:sp>
      <p:sp>
        <p:nvSpPr>
          <p:cNvPr id="9" name="TextBox 8"/>
          <p:cNvSpPr txBox="1"/>
          <p:nvPr/>
        </p:nvSpPr>
        <p:spPr>
          <a:xfrm>
            <a:off x="8321040" y="5120640"/>
            <a:ext cx="3474720" cy="548640"/>
          </a:xfrm>
          <a:prstGeom prst="rect">
            <a:avLst/>
          </a:prstGeom>
          <a:noFill/>
        </p:spPr>
        <p:txBody>
          <a:bodyPr wrap="square" anchor="t" lIns="0" rIns="0" tIns="0" bIns="0">
            <a:spAutoFit/>
          </a:bodyPr>
          <a:lstStyle/>
          <a:p>
            <a:pPr algn="l">
              <a:spcAft>
                <a:spcPts val="585"/>
              </a:spcAft>
            </a:pPr>
            <a:r>
              <a:rPr sz="1300" b="0" i="1">
                <a:solidFill>
                  <a:srgbClr val="5A5A55"/>
                </a:solidFill>
                <a:latin typeface="Calibri"/>
              </a:rPr>
              <a:t>Main run: 8 held-out species, 139 unknown queries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277295" y="6400800"/>
            <a:ext cx="457200" cy="274320"/>
          </a:xfrm>
          <a:prstGeom prst="rect">
            <a:avLst/>
          </a:prstGeom>
          <a:noFill/>
        </p:spPr>
        <p:txBody>
          <a:bodyPr wrap="square" anchor="t" lIns="0" rIns="0" tIns="0" bIns="0">
            <a:spAutoFit/>
          </a:bodyPr>
          <a:lstStyle/>
          <a:p>
            <a:pPr algn="r">
              <a:spcAft>
                <a:spcPts val="450"/>
              </a:spcAft>
            </a:pPr>
            <a:r>
              <a:rPr sz="1000" b="0" i="0">
                <a:solidFill>
                  <a:srgbClr val="5A5A55"/>
                </a:solidFill>
                <a:latin typeface="Calibri"/>
              </a:rPr>
              <a:t>8</a:t>
            </a:r>
          </a:p>
        </p:txBody>
      </p:sp>
      <p:sp>
        <p:nvSpPr>
          <p:cNvPr id="3" name="TextBox 2"/>
          <p:cNvSpPr txBox="1"/>
          <p:nvPr/>
        </p:nvSpPr>
        <p:spPr>
          <a:xfrm>
            <a:off x="548640" y="411480"/>
            <a:ext cx="11094415" cy="822960"/>
          </a:xfrm>
          <a:prstGeom prst="rect">
            <a:avLst/>
          </a:prstGeom>
          <a:noFill/>
        </p:spPr>
        <p:txBody>
          <a:bodyPr wrap="square" anchor="t" lIns="0" rIns="0" tIns="0" bIns="0">
            <a:spAutoFit/>
          </a:bodyPr>
          <a:lstStyle/>
          <a:p>
            <a:pPr algn="l">
              <a:spcAft>
                <a:spcPts val="1530"/>
              </a:spcAft>
            </a:pPr>
            <a:r>
              <a:rPr sz="3400" b="1" i="0">
                <a:solidFill>
                  <a:srgbClr val="0F3B40"/>
                </a:solidFill>
                <a:latin typeface="Cambria"/>
              </a:rPr>
              <a:t>Every species held out once</a:t>
            </a:r>
          </a:p>
        </p:txBody>
      </p:sp>
      <p:sp>
        <p:nvSpPr>
          <p:cNvPr id="4" name="Rounded Rectangle 3"/>
          <p:cNvSpPr/>
          <p:nvPr/>
        </p:nvSpPr>
        <p:spPr>
          <a:xfrm>
            <a:off x="548640" y="1417320"/>
            <a:ext cx="5669280" cy="2240280"/>
          </a:xfrm>
          <a:prstGeom prst="roundRect">
            <a:avLst>
              <a:gd name="adj" fmla="val 8000"/>
            </a:avLst>
          </a:prstGeom>
          <a:solidFill>
            <a:srgbClr val="E6F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600200"/>
            <a:ext cx="5029200" cy="457200"/>
          </a:xfrm>
          <a:prstGeom prst="rect">
            <a:avLst/>
          </a:prstGeom>
          <a:noFill/>
        </p:spPr>
        <p:txBody>
          <a:bodyPr wrap="square" anchor="t" lIns="0" rIns="0" tIns="0" bIns="0">
            <a:spAutoFit/>
          </a:bodyPr>
          <a:lstStyle/>
          <a:p>
            <a:pPr algn="l">
              <a:spcAft>
                <a:spcPts val="810"/>
              </a:spcAft>
            </a:pPr>
            <a:r>
              <a:rPr sz="1800" b="1" i="0">
                <a:solidFill>
                  <a:srgbClr val="0F3B40"/>
                </a:solidFill>
                <a:latin typeface="Calibri"/>
              </a:rPr>
              <a:t>All 39 species</a:t>
            </a:r>
          </a:p>
        </p:txBody>
      </p:sp>
      <p:sp>
        <p:nvSpPr>
          <p:cNvPr id="6" name="TextBox 5"/>
          <p:cNvSpPr txBox="1"/>
          <p:nvPr/>
        </p:nvSpPr>
        <p:spPr>
          <a:xfrm>
            <a:off x="868680" y="2011680"/>
            <a:ext cx="2377440" cy="868680"/>
          </a:xfrm>
          <a:prstGeom prst="rect">
            <a:avLst/>
          </a:prstGeom>
          <a:noFill/>
        </p:spPr>
        <p:txBody>
          <a:bodyPr wrap="square" anchor="t" lIns="0" rIns="0" tIns="0" bIns="0">
            <a:spAutoFit/>
          </a:bodyPr>
          <a:lstStyle/>
          <a:p>
            <a:pPr algn="l">
              <a:spcAft>
                <a:spcPts val="2160"/>
              </a:spcAft>
            </a:pPr>
            <a:r>
              <a:rPr sz="4800" b="1" i="0">
                <a:solidFill>
                  <a:srgbClr val="C03535"/>
                </a:solidFill>
                <a:latin typeface="Cambria"/>
              </a:rPr>
              <a:t>67%</a:t>
            </a:r>
          </a:p>
        </p:txBody>
      </p:sp>
      <p:sp>
        <p:nvSpPr>
          <p:cNvPr id="7" name="TextBox 6"/>
          <p:cNvSpPr txBox="1"/>
          <p:nvPr/>
        </p:nvSpPr>
        <p:spPr>
          <a:xfrm>
            <a:off x="868680" y="2880360"/>
            <a:ext cx="2377440" cy="731520"/>
          </a:xfrm>
          <a:prstGeom prst="rect">
            <a:avLst/>
          </a:prstGeom>
          <a:noFill/>
        </p:spPr>
        <p:txBody>
          <a:bodyPr wrap="square" anchor="t" lIns="0" rIns="0" tIns="0" bIns="0">
            <a:spAutoFit/>
          </a:bodyPr>
          <a:lstStyle/>
          <a:p>
            <a:pPr algn="l">
              <a:spcAft>
                <a:spcPts val="630"/>
              </a:spcAft>
            </a:pPr>
            <a:r>
              <a:rPr sz="1400" b="0" i="0">
                <a:solidFill>
                  <a:srgbClr val="5A5A55"/>
                </a:solidFill>
                <a:latin typeface="Calibri"/>
              </a:rPr>
              <a:t>NJ tree wrongly named</a:t>
            </a:r>
          </a:p>
        </p:txBody>
      </p:sp>
      <p:sp>
        <p:nvSpPr>
          <p:cNvPr id="8" name="TextBox 7"/>
          <p:cNvSpPr txBox="1"/>
          <p:nvPr/>
        </p:nvSpPr>
        <p:spPr>
          <a:xfrm>
            <a:off x="3429000" y="2011680"/>
            <a:ext cx="2377440" cy="868680"/>
          </a:xfrm>
          <a:prstGeom prst="rect">
            <a:avLst/>
          </a:prstGeom>
          <a:noFill/>
        </p:spPr>
        <p:txBody>
          <a:bodyPr wrap="square" anchor="t" lIns="0" rIns="0" tIns="0" bIns="0">
            <a:spAutoFit/>
          </a:bodyPr>
          <a:lstStyle/>
          <a:p>
            <a:pPr algn="l">
              <a:spcAft>
                <a:spcPts val="2160"/>
              </a:spcAft>
            </a:pPr>
            <a:r>
              <a:rPr sz="4800" b="1" i="0">
                <a:solidFill>
                  <a:srgbClr val="0C8A0C"/>
                </a:solidFill>
                <a:latin typeface="Cambria"/>
              </a:rPr>
              <a:t>14%</a:t>
            </a:r>
          </a:p>
        </p:txBody>
      </p:sp>
      <p:sp>
        <p:nvSpPr>
          <p:cNvPr id="9" name="TextBox 8"/>
          <p:cNvSpPr txBox="1"/>
          <p:nvPr/>
        </p:nvSpPr>
        <p:spPr>
          <a:xfrm>
            <a:off x="3429000" y="2880360"/>
            <a:ext cx="2377440" cy="731520"/>
          </a:xfrm>
          <a:prstGeom prst="rect">
            <a:avLst/>
          </a:prstGeom>
          <a:noFill/>
        </p:spPr>
        <p:txBody>
          <a:bodyPr wrap="square" anchor="t" lIns="0" rIns="0" tIns="0" bIns="0">
            <a:spAutoFit/>
          </a:bodyPr>
          <a:lstStyle/>
          <a:p>
            <a:pPr algn="l">
              <a:spcAft>
                <a:spcPts val="630"/>
              </a:spcAft>
            </a:pPr>
            <a:r>
              <a:rPr sz="1400" b="0" i="0">
                <a:solidFill>
                  <a:srgbClr val="5A5A55"/>
                </a:solidFill>
                <a:latin typeface="Calibri"/>
              </a:rPr>
              <a:t>k-NN wrongly named</a:t>
            </a:r>
          </a:p>
        </p:txBody>
      </p:sp>
      <p:sp>
        <p:nvSpPr>
          <p:cNvPr id="10" name="Rounded Rectangle 9"/>
          <p:cNvSpPr/>
          <p:nvPr/>
        </p:nvSpPr>
        <p:spPr>
          <a:xfrm>
            <a:off x="548640" y="3886200"/>
            <a:ext cx="5669280" cy="2240280"/>
          </a:xfrm>
          <a:prstGeom prst="roundRect">
            <a:avLst>
              <a:gd name="adj" fmla="val 8000"/>
            </a:avLst>
          </a:prstGeom>
          <a:solidFill>
            <a:srgbClr val="FBF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4069080"/>
            <a:ext cx="5120640" cy="457200"/>
          </a:xfrm>
          <a:prstGeom prst="rect">
            <a:avLst/>
          </a:prstGeom>
          <a:noFill/>
        </p:spPr>
        <p:txBody>
          <a:bodyPr wrap="square" anchor="t" lIns="0" rIns="0" tIns="0" bIns="0">
            <a:spAutoFit/>
          </a:bodyPr>
          <a:lstStyle/>
          <a:p>
            <a:pPr algn="l">
              <a:spcAft>
                <a:spcPts val="810"/>
              </a:spcAft>
            </a:pPr>
            <a:r>
              <a:rPr sz="1800" b="1" i="0">
                <a:solidFill>
                  <a:srgbClr val="0F3B40"/>
                </a:solidFill>
                <a:latin typeface="Calibri"/>
              </a:rPr>
              <a:t>29 species without barcode sharing</a:t>
            </a:r>
          </a:p>
        </p:txBody>
      </p:sp>
      <p:sp>
        <p:nvSpPr>
          <p:cNvPr id="12" name="TextBox 11"/>
          <p:cNvSpPr txBox="1"/>
          <p:nvPr/>
        </p:nvSpPr>
        <p:spPr>
          <a:xfrm>
            <a:off x="868680" y="4480560"/>
            <a:ext cx="2377440" cy="868680"/>
          </a:xfrm>
          <a:prstGeom prst="rect">
            <a:avLst/>
          </a:prstGeom>
          <a:noFill/>
        </p:spPr>
        <p:txBody>
          <a:bodyPr wrap="square" anchor="t" lIns="0" rIns="0" tIns="0" bIns="0">
            <a:spAutoFit/>
          </a:bodyPr>
          <a:lstStyle/>
          <a:p>
            <a:pPr algn="l">
              <a:spcAft>
                <a:spcPts val="2160"/>
              </a:spcAft>
            </a:pPr>
            <a:r>
              <a:rPr sz="4800" b="1" i="0">
                <a:solidFill>
                  <a:srgbClr val="C03535"/>
                </a:solidFill>
                <a:latin typeface="Cambria"/>
              </a:rPr>
              <a:t>62%</a:t>
            </a:r>
          </a:p>
        </p:txBody>
      </p:sp>
      <p:sp>
        <p:nvSpPr>
          <p:cNvPr id="13" name="TextBox 12"/>
          <p:cNvSpPr txBox="1"/>
          <p:nvPr/>
        </p:nvSpPr>
        <p:spPr>
          <a:xfrm>
            <a:off x="868680" y="5349240"/>
            <a:ext cx="2377440" cy="731520"/>
          </a:xfrm>
          <a:prstGeom prst="rect">
            <a:avLst/>
          </a:prstGeom>
          <a:noFill/>
        </p:spPr>
        <p:txBody>
          <a:bodyPr wrap="square" anchor="t" lIns="0" rIns="0" tIns="0" bIns="0">
            <a:spAutoFit/>
          </a:bodyPr>
          <a:lstStyle/>
          <a:p>
            <a:pPr algn="l">
              <a:spcAft>
                <a:spcPts val="630"/>
              </a:spcAft>
            </a:pPr>
            <a:r>
              <a:rPr sz="1400" b="0" i="0">
                <a:solidFill>
                  <a:srgbClr val="5A5A55"/>
                </a:solidFill>
                <a:latin typeface="Calibri"/>
              </a:rPr>
              <a:t>NJ tree wrongly named</a:t>
            </a:r>
          </a:p>
        </p:txBody>
      </p:sp>
      <p:sp>
        <p:nvSpPr>
          <p:cNvPr id="14" name="TextBox 13"/>
          <p:cNvSpPr txBox="1"/>
          <p:nvPr/>
        </p:nvSpPr>
        <p:spPr>
          <a:xfrm>
            <a:off x="3429000" y="4480560"/>
            <a:ext cx="2377440" cy="868680"/>
          </a:xfrm>
          <a:prstGeom prst="rect">
            <a:avLst/>
          </a:prstGeom>
          <a:noFill/>
        </p:spPr>
        <p:txBody>
          <a:bodyPr wrap="square" anchor="t" lIns="0" rIns="0" tIns="0" bIns="0">
            <a:spAutoFit/>
          </a:bodyPr>
          <a:lstStyle/>
          <a:p>
            <a:pPr algn="l">
              <a:spcAft>
                <a:spcPts val="2160"/>
              </a:spcAft>
            </a:pPr>
            <a:r>
              <a:rPr sz="4800" b="1" i="0">
                <a:solidFill>
                  <a:srgbClr val="0C8A0C"/>
                </a:solidFill>
                <a:latin typeface="Cambria"/>
              </a:rPr>
              <a:t>0%</a:t>
            </a:r>
          </a:p>
        </p:txBody>
      </p:sp>
      <p:sp>
        <p:nvSpPr>
          <p:cNvPr id="15" name="TextBox 14"/>
          <p:cNvSpPr txBox="1"/>
          <p:nvPr/>
        </p:nvSpPr>
        <p:spPr>
          <a:xfrm>
            <a:off x="3429000" y="5349240"/>
            <a:ext cx="2377440" cy="731520"/>
          </a:xfrm>
          <a:prstGeom prst="rect">
            <a:avLst/>
          </a:prstGeom>
          <a:noFill/>
        </p:spPr>
        <p:txBody>
          <a:bodyPr wrap="square" anchor="t" lIns="0" rIns="0" tIns="0" bIns="0">
            <a:spAutoFit/>
          </a:bodyPr>
          <a:lstStyle/>
          <a:p>
            <a:pPr algn="l">
              <a:spcAft>
                <a:spcPts val="630"/>
              </a:spcAft>
            </a:pPr>
            <a:r>
              <a:rPr sz="1400" b="0" i="0">
                <a:solidFill>
                  <a:srgbClr val="5A5A55"/>
                </a:solidFill>
                <a:latin typeface="Calibri"/>
              </a:rPr>
              <a:t>k-NN wrongly named
(correct genus 99%)</a:t>
            </a:r>
          </a:p>
        </p:txBody>
      </p:sp>
      <p:pic>
        <p:nvPicPr>
          <p:cNvPr id="16" name="Picture 15" descr="loso_per_species.png"/>
          <p:cNvPicPr>
            <a:picLocks noChangeAspect="1"/>
          </p:cNvPicPr>
          <p:nvPr/>
        </p:nvPicPr>
        <p:blipFill>
          <a:blip r:embed="rId3"/>
          <a:stretch>
            <a:fillRect/>
          </a:stretch>
        </p:blipFill>
        <p:spPr>
          <a:xfrm>
            <a:off x="7086600" y="1280160"/>
            <a:ext cx="3755571" cy="52578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277295" y="6400800"/>
            <a:ext cx="457200" cy="274320"/>
          </a:xfrm>
          <a:prstGeom prst="rect">
            <a:avLst/>
          </a:prstGeom>
          <a:noFill/>
        </p:spPr>
        <p:txBody>
          <a:bodyPr wrap="square" anchor="t" lIns="0" rIns="0" tIns="0" bIns="0">
            <a:spAutoFit/>
          </a:bodyPr>
          <a:lstStyle/>
          <a:p>
            <a:pPr algn="r">
              <a:spcAft>
                <a:spcPts val="450"/>
              </a:spcAft>
            </a:pPr>
            <a:r>
              <a:rPr sz="1000" b="0" i="0">
                <a:solidFill>
                  <a:srgbClr val="5A5A55"/>
                </a:solidFill>
                <a:latin typeface="Calibri"/>
              </a:rPr>
              <a:t>9</a:t>
            </a:r>
          </a:p>
        </p:txBody>
      </p:sp>
      <p:sp>
        <p:nvSpPr>
          <p:cNvPr id="3" name="TextBox 2"/>
          <p:cNvSpPr txBox="1"/>
          <p:nvPr/>
        </p:nvSpPr>
        <p:spPr>
          <a:xfrm>
            <a:off x="548640" y="411480"/>
            <a:ext cx="11094415" cy="822960"/>
          </a:xfrm>
          <a:prstGeom prst="rect">
            <a:avLst/>
          </a:prstGeom>
          <a:noFill/>
        </p:spPr>
        <p:txBody>
          <a:bodyPr wrap="square" anchor="t" lIns="0" rIns="0" tIns="0" bIns="0">
            <a:spAutoFit/>
          </a:bodyPr>
          <a:lstStyle/>
          <a:p>
            <a:pPr algn="l">
              <a:spcAft>
                <a:spcPts val="1530"/>
              </a:spcAft>
            </a:pPr>
            <a:r>
              <a:rPr sz="3400" b="1" i="0">
                <a:solidFill>
                  <a:srgbClr val="0F3B40"/>
                </a:solidFill>
                <a:latin typeface="Cambria"/>
              </a:rPr>
              <a:t>Why methods fail: shared barcodes</a:t>
            </a:r>
          </a:p>
        </p:txBody>
      </p:sp>
      <p:pic>
        <p:nvPicPr>
          <p:cNvPr id="4" name="Picture 3" descr="barcode_sharing.png"/>
          <p:cNvPicPr>
            <a:picLocks noChangeAspect="1"/>
          </p:cNvPicPr>
          <p:nvPr/>
        </p:nvPicPr>
        <p:blipFill>
          <a:blip r:embed="rId3"/>
          <a:stretch>
            <a:fillRect/>
          </a:stretch>
        </p:blipFill>
        <p:spPr>
          <a:xfrm>
            <a:off x="457200" y="1371600"/>
            <a:ext cx="7315200" cy="4096512"/>
          </a:xfrm>
          <a:prstGeom prst="rect">
            <a:avLst/>
          </a:prstGeom>
        </p:spPr>
      </p:pic>
      <p:sp>
        <p:nvSpPr>
          <p:cNvPr id="5" name="TextBox 4"/>
          <p:cNvSpPr txBox="1"/>
          <p:nvPr/>
        </p:nvSpPr>
        <p:spPr>
          <a:xfrm>
            <a:off x="8138160" y="1645920"/>
            <a:ext cx="3657600" cy="4389120"/>
          </a:xfrm>
          <a:prstGeom prst="rect">
            <a:avLst/>
          </a:prstGeom>
          <a:noFill/>
        </p:spPr>
        <p:txBody>
          <a:bodyPr wrap="square" anchor="t" lIns="0" rIns="0" tIns="0" bIns="0">
            <a:spAutoFit/>
          </a:bodyPr>
          <a:lstStyle/>
          <a:p>
            <a:pPr algn="l">
              <a:spcAft>
                <a:spcPts val="765"/>
              </a:spcAft>
            </a:pPr>
            <a:r>
              <a:rPr sz="1700" b="1" i="0">
                <a:solidFill>
                  <a:srgbClr val="0F3B40"/>
                </a:solidFill>
                <a:latin typeface="Calibri"/>
              </a:rPr>
              <a:t>10 species </a:t>
            </a:r>
            <a:r>
              <a:rPr sz="1700" b="0" i="0">
                <a:solidFill>
                  <a:srgbClr val="1A1A1A"/>
                </a:solidFill>
                <a:latin typeface="Calibri"/>
              </a:rPr>
              <a:t>share a BOLD BIN with a close relative (e.g. Coenagrion puella and C. pulchellum).</a:t>
            </a:r>
          </a:p>
          <a:p>
            <a:pPr algn="l">
              <a:spcAft>
                <a:spcPts val="765"/>
              </a:spcAft>
            </a:pPr>
            <a:r>
              <a:rPr sz="1700" b="1" i="0">
                <a:solidFill>
                  <a:srgbClr val="0C8A0C"/>
                </a:solidFill>
                <a:latin typeface="Calibri"/>
              </a:rPr>
              <a:t>Without them, </a:t>
            </a:r>
            <a:r>
              <a:rPr sz="1700" b="0" i="0">
                <a:solidFill>
                  <a:srgbClr val="1A1A1A"/>
                </a:solidFill>
                <a:latin typeface="Calibri"/>
              </a:rPr>
              <a:t>k-NN made no false identifications in any run.</a:t>
            </a:r>
          </a:p>
          <a:p>
            <a:pPr algn="l">
              <a:spcAft>
                <a:spcPts val="765"/>
              </a:spcAft>
            </a:pPr>
            <a:r>
              <a:rPr sz="1700" b="1" i="0">
                <a:solidFill>
                  <a:srgbClr val="C03535"/>
                </a:solidFill>
                <a:latin typeface="Calibri"/>
              </a:rPr>
              <a:t>With them, </a:t>
            </a:r>
            <a:r>
              <a:rPr sz="1700" b="0" i="0">
                <a:solidFill>
                  <a:srgbClr val="1A1A1A"/>
                </a:solidFill>
                <a:latin typeface="Calibri"/>
              </a:rPr>
              <a:t>every method fails often across the 4 runs (k-NN up to 72%, NJ up to 100%).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277295" y="6400800"/>
            <a:ext cx="457200" cy="274320"/>
          </a:xfrm>
          <a:prstGeom prst="rect">
            <a:avLst/>
          </a:prstGeom>
          <a:noFill/>
        </p:spPr>
        <p:txBody>
          <a:bodyPr wrap="square" anchor="t" lIns="0" rIns="0" tIns="0" bIns="0">
            <a:spAutoFit/>
          </a:bodyPr>
          <a:lstStyle/>
          <a:p>
            <a:pPr algn="r">
              <a:spcAft>
                <a:spcPts val="450"/>
              </a:spcAft>
            </a:pPr>
            <a:r>
              <a:rPr sz="1000" b="0" i="0">
                <a:solidFill>
                  <a:srgbClr val="5A5A55"/>
                </a:solidFill>
                <a:latin typeface="Calibri"/>
              </a:rPr>
              <a:t>10</a:t>
            </a:r>
          </a:p>
        </p:txBody>
      </p:sp>
      <p:sp>
        <p:nvSpPr>
          <p:cNvPr id="3" name="TextBox 2"/>
          <p:cNvSpPr txBox="1"/>
          <p:nvPr/>
        </p:nvSpPr>
        <p:spPr>
          <a:xfrm>
            <a:off x="548640" y="411480"/>
            <a:ext cx="11094415" cy="822960"/>
          </a:xfrm>
          <a:prstGeom prst="rect">
            <a:avLst/>
          </a:prstGeom>
          <a:noFill/>
        </p:spPr>
        <p:txBody>
          <a:bodyPr wrap="square" anchor="t" lIns="0" rIns="0" tIns="0" bIns="0">
            <a:spAutoFit/>
          </a:bodyPr>
          <a:lstStyle/>
          <a:p>
            <a:pPr algn="l">
              <a:spcAft>
                <a:spcPts val="1530"/>
              </a:spcAft>
            </a:pPr>
            <a:r>
              <a:rPr sz="3400" b="1" i="0">
                <a:solidFill>
                  <a:srgbClr val="0F3B40"/>
                </a:solidFill>
                <a:latin typeface="Cambria"/>
              </a:rPr>
              <a:t>Where does the safety come from?</a:t>
            </a:r>
          </a:p>
        </p:txBody>
      </p:sp>
      <p:sp>
        <p:nvSpPr>
          <p:cNvPr id="4" name="Rounded Rectangle 3"/>
          <p:cNvSpPr/>
          <p:nvPr/>
        </p:nvSpPr>
        <p:spPr>
          <a:xfrm>
            <a:off x="548640" y="1463040"/>
            <a:ext cx="3566160" cy="4206240"/>
          </a:xfrm>
          <a:prstGeom prst="roundRect">
            <a:avLst>
              <a:gd name="adj" fmla="val 8000"/>
            </a:avLst>
          </a:prstGeom>
          <a:solidFill>
            <a:srgbClr val="E6F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691640"/>
            <a:ext cx="3017520" cy="457200"/>
          </a:xfrm>
          <a:prstGeom prst="rect">
            <a:avLst/>
          </a:prstGeom>
          <a:noFill/>
        </p:spPr>
        <p:txBody>
          <a:bodyPr wrap="square" anchor="t" lIns="0" rIns="0" tIns="0" bIns="0">
            <a:spAutoFit/>
          </a:bodyPr>
          <a:lstStyle/>
          <a:p>
            <a:pPr algn="l">
              <a:spcAft>
                <a:spcPts val="990"/>
              </a:spcAft>
            </a:pPr>
            <a:r>
              <a:rPr sz="2200" b="1" i="0">
                <a:solidFill>
                  <a:srgbClr val="0F3B40"/>
                </a:solidFill>
                <a:latin typeface="Calibri"/>
              </a:rPr>
              <a:t>Best close match</a:t>
            </a:r>
          </a:p>
        </p:txBody>
      </p:sp>
      <p:sp>
        <p:nvSpPr>
          <p:cNvPr id="6" name="TextBox 5"/>
          <p:cNvSpPr txBox="1"/>
          <p:nvPr/>
        </p:nvSpPr>
        <p:spPr>
          <a:xfrm>
            <a:off x="868680" y="2194560"/>
            <a:ext cx="3017520" cy="365760"/>
          </a:xfrm>
          <a:prstGeom prst="rect">
            <a:avLst/>
          </a:prstGeom>
          <a:noFill/>
        </p:spPr>
        <p:txBody>
          <a:bodyPr wrap="square" anchor="t" lIns="0" rIns="0" tIns="0" bIns="0">
            <a:spAutoFit/>
          </a:bodyPr>
          <a:lstStyle/>
          <a:p>
            <a:pPr algn="l">
              <a:spcAft>
                <a:spcPts val="630"/>
              </a:spcAft>
            </a:pPr>
            <a:r>
              <a:rPr sz="1400" b="0" i="1">
                <a:solidFill>
                  <a:srgbClr val="5A5A55"/>
                </a:solidFill>
                <a:latin typeface="Calibri"/>
              </a:rPr>
              <a:t>same cut-off as k-NN</a:t>
            </a:r>
          </a:p>
        </p:txBody>
      </p:sp>
      <p:sp>
        <p:nvSpPr>
          <p:cNvPr id="7" name="TextBox 6"/>
          <p:cNvSpPr txBox="1"/>
          <p:nvPr/>
        </p:nvSpPr>
        <p:spPr>
          <a:xfrm>
            <a:off x="868680" y="2697480"/>
            <a:ext cx="3017520" cy="868680"/>
          </a:xfrm>
          <a:prstGeom prst="rect">
            <a:avLst/>
          </a:prstGeom>
          <a:noFill/>
        </p:spPr>
        <p:txBody>
          <a:bodyPr wrap="square" anchor="t" lIns="0" rIns="0" tIns="0" bIns="0">
            <a:spAutoFit/>
          </a:bodyPr>
          <a:lstStyle/>
          <a:p>
            <a:pPr algn="l">
              <a:spcAft>
                <a:spcPts val="2070"/>
              </a:spcAft>
            </a:pPr>
            <a:r>
              <a:rPr sz="4600" b="1" i="0">
                <a:solidFill>
                  <a:srgbClr val="0C8A0C"/>
                </a:solidFill>
                <a:latin typeface="Cambria"/>
              </a:rPr>
              <a:t>100%</a:t>
            </a:r>
          </a:p>
        </p:txBody>
      </p:sp>
      <p:sp>
        <p:nvSpPr>
          <p:cNvPr id="8" name="TextBox 7"/>
          <p:cNvSpPr txBox="1"/>
          <p:nvPr/>
        </p:nvSpPr>
        <p:spPr>
          <a:xfrm>
            <a:off x="868680" y="3566160"/>
            <a:ext cx="3017520" cy="731520"/>
          </a:xfrm>
          <a:prstGeom prst="rect">
            <a:avLst/>
          </a:prstGeom>
          <a:noFill/>
        </p:spPr>
        <p:txBody>
          <a:bodyPr wrap="square" anchor="t" lIns="0" rIns="0" tIns="0" bIns="0">
            <a:spAutoFit/>
          </a:bodyPr>
          <a:lstStyle/>
          <a:p>
            <a:pPr algn="l">
              <a:spcAft>
                <a:spcPts val="630"/>
              </a:spcAft>
            </a:pPr>
            <a:r>
              <a:rPr sz="1400" b="0" i="0">
                <a:solidFill>
                  <a:srgbClr val="5A5A55"/>
                </a:solidFill>
                <a:latin typeface="Calibri"/>
              </a:rPr>
              <a:t>unknown species flagged</a:t>
            </a:r>
          </a:p>
        </p:txBody>
      </p:sp>
      <p:sp>
        <p:nvSpPr>
          <p:cNvPr id="9" name="TextBox 8"/>
          <p:cNvSpPr txBox="1"/>
          <p:nvPr/>
        </p:nvSpPr>
        <p:spPr>
          <a:xfrm>
            <a:off x="868680" y="4160520"/>
            <a:ext cx="3017520" cy="868680"/>
          </a:xfrm>
          <a:prstGeom prst="rect">
            <a:avLst/>
          </a:prstGeom>
          <a:noFill/>
        </p:spPr>
        <p:txBody>
          <a:bodyPr wrap="square" anchor="t" lIns="0" rIns="0" tIns="0" bIns="0">
            <a:spAutoFit/>
          </a:bodyPr>
          <a:lstStyle/>
          <a:p>
            <a:pPr algn="l">
              <a:spcAft>
                <a:spcPts val="2070"/>
              </a:spcAft>
            </a:pPr>
            <a:r>
              <a:rPr sz="4600" b="1" i="0">
                <a:solidFill>
                  <a:srgbClr val="0F3B40"/>
                </a:solidFill>
                <a:latin typeface="Cambria"/>
              </a:rPr>
              <a:t>77%</a:t>
            </a:r>
          </a:p>
        </p:txBody>
      </p:sp>
      <p:sp>
        <p:nvSpPr>
          <p:cNvPr id="10" name="TextBox 9"/>
          <p:cNvSpPr txBox="1"/>
          <p:nvPr/>
        </p:nvSpPr>
        <p:spPr>
          <a:xfrm>
            <a:off x="868680" y="5029200"/>
            <a:ext cx="3017520" cy="731520"/>
          </a:xfrm>
          <a:prstGeom prst="rect">
            <a:avLst/>
          </a:prstGeom>
          <a:noFill/>
        </p:spPr>
        <p:txBody>
          <a:bodyPr wrap="square" anchor="t" lIns="0" rIns="0" tIns="0" bIns="0">
            <a:spAutoFit/>
          </a:bodyPr>
          <a:lstStyle/>
          <a:p>
            <a:pPr algn="l">
              <a:spcAft>
                <a:spcPts val="630"/>
              </a:spcAft>
            </a:pPr>
            <a:r>
              <a:rPr sz="1400" b="0" i="0">
                <a:solidFill>
                  <a:srgbClr val="5A5A55"/>
                </a:solidFill>
                <a:latin typeface="Calibri"/>
              </a:rPr>
              <a:t>known species still correct</a:t>
            </a:r>
          </a:p>
        </p:txBody>
      </p:sp>
      <p:sp>
        <p:nvSpPr>
          <p:cNvPr id="11" name="Rounded Rectangle 10"/>
          <p:cNvSpPr/>
          <p:nvPr/>
        </p:nvSpPr>
        <p:spPr>
          <a:xfrm>
            <a:off x="4480559" y="1463040"/>
            <a:ext cx="3566160" cy="4206240"/>
          </a:xfrm>
          <a:prstGeom prst="roundRect">
            <a:avLst>
              <a:gd name="adj" fmla="val 8000"/>
            </a:avLst>
          </a:prstGeom>
          <a:solidFill>
            <a:srgbClr val="FBF1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800599" y="1691640"/>
            <a:ext cx="3017520" cy="457200"/>
          </a:xfrm>
          <a:prstGeom prst="rect">
            <a:avLst/>
          </a:prstGeom>
          <a:noFill/>
        </p:spPr>
        <p:txBody>
          <a:bodyPr wrap="square" anchor="t" lIns="0" rIns="0" tIns="0" bIns="0">
            <a:spAutoFit/>
          </a:bodyPr>
          <a:lstStyle/>
          <a:p>
            <a:pPr algn="l">
              <a:spcAft>
                <a:spcPts val="990"/>
              </a:spcAft>
            </a:pPr>
            <a:r>
              <a:rPr sz="2200" b="1" i="0">
                <a:solidFill>
                  <a:srgbClr val="0F3B40"/>
                </a:solidFill>
                <a:latin typeface="Calibri"/>
              </a:rPr>
              <a:t>k-NN</a:t>
            </a:r>
          </a:p>
        </p:txBody>
      </p:sp>
      <p:sp>
        <p:nvSpPr>
          <p:cNvPr id="13" name="TextBox 12"/>
          <p:cNvSpPr txBox="1"/>
          <p:nvPr/>
        </p:nvSpPr>
        <p:spPr>
          <a:xfrm>
            <a:off x="4800599" y="2194560"/>
            <a:ext cx="3017520" cy="365760"/>
          </a:xfrm>
          <a:prstGeom prst="rect">
            <a:avLst/>
          </a:prstGeom>
          <a:noFill/>
        </p:spPr>
        <p:txBody>
          <a:bodyPr wrap="square" anchor="t" lIns="0" rIns="0" tIns="0" bIns="0">
            <a:spAutoFit/>
          </a:bodyPr>
          <a:lstStyle/>
          <a:p>
            <a:pPr algn="l">
              <a:spcAft>
                <a:spcPts val="630"/>
              </a:spcAft>
            </a:pPr>
            <a:r>
              <a:rPr sz="1400" b="0" i="1">
                <a:solidFill>
                  <a:srgbClr val="5A5A55"/>
                </a:solidFill>
                <a:latin typeface="Calibri"/>
              </a:rPr>
              <a:t>calibrated cut-off</a:t>
            </a:r>
          </a:p>
        </p:txBody>
      </p:sp>
      <p:sp>
        <p:nvSpPr>
          <p:cNvPr id="14" name="TextBox 13"/>
          <p:cNvSpPr txBox="1"/>
          <p:nvPr/>
        </p:nvSpPr>
        <p:spPr>
          <a:xfrm>
            <a:off x="4800599" y="2697480"/>
            <a:ext cx="3017520" cy="868680"/>
          </a:xfrm>
          <a:prstGeom prst="rect">
            <a:avLst/>
          </a:prstGeom>
          <a:noFill/>
        </p:spPr>
        <p:txBody>
          <a:bodyPr wrap="square" anchor="t" lIns="0" rIns="0" tIns="0" bIns="0">
            <a:spAutoFit/>
          </a:bodyPr>
          <a:lstStyle/>
          <a:p>
            <a:pPr algn="l">
              <a:spcAft>
                <a:spcPts val="2070"/>
              </a:spcAft>
            </a:pPr>
            <a:r>
              <a:rPr sz="4600" b="1" i="0">
                <a:solidFill>
                  <a:srgbClr val="0C8A0C"/>
                </a:solidFill>
                <a:latin typeface="Cambria"/>
              </a:rPr>
              <a:t>100%</a:t>
            </a:r>
          </a:p>
        </p:txBody>
      </p:sp>
      <p:sp>
        <p:nvSpPr>
          <p:cNvPr id="15" name="TextBox 14"/>
          <p:cNvSpPr txBox="1"/>
          <p:nvPr/>
        </p:nvSpPr>
        <p:spPr>
          <a:xfrm>
            <a:off x="4800599" y="3566160"/>
            <a:ext cx="3017520" cy="731520"/>
          </a:xfrm>
          <a:prstGeom prst="rect">
            <a:avLst/>
          </a:prstGeom>
          <a:noFill/>
        </p:spPr>
        <p:txBody>
          <a:bodyPr wrap="square" anchor="t" lIns="0" rIns="0" tIns="0" bIns="0">
            <a:spAutoFit/>
          </a:bodyPr>
          <a:lstStyle/>
          <a:p>
            <a:pPr algn="l">
              <a:spcAft>
                <a:spcPts val="630"/>
              </a:spcAft>
            </a:pPr>
            <a:r>
              <a:rPr sz="1400" b="0" i="0">
                <a:solidFill>
                  <a:srgbClr val="5A5A55"/>
                </a:solidFill>
                <a:latin typeface="Calibri"/>
              </a:rPr>
              <a:t>unknown species flagged</a:t>
            </a:r>
          </a:p>
        </p:txBody>
      </p:sp>
      <p:sp>
        <p:nvSpPr>
          <p:cNvPr id="16" name="TextBox 15"/>
          <p:cNvSpPr txBox="1"/>
          <p:nvPr/>
        </p:nvSpPr>
        <p:spPr>
          <a:xfrm>
            <a:off x="4800599" y="4160520"/>
            <a:ext cx="3017520" cy="868680"/>
          </a:xfrm>
          <a:prstGeom prst="rect">
            <a:avLst/>
          </a:prstGeom>
          <a:noFill/>
        </p:spPr>
        <p:txBody>
          <a:bodyPr wrap="square" anchor="t" lIns="0" rIns="0" tIns="0" bIns="0">
            <a:spAutoFit/>
          </a:bodyPr>
          <a:lstStyle/>
          <a:p>
            <a:pPr algn="l">
              <a:spcAft>
                <a:spcPts val="2070"/>
              </a:spcAft>
            </a:pPr>
            <a:r>
              <a:rPr sz="4600" b="1" i="0">
                <a:solidFill>
                  <a:srgbClr val="0F3B40"/>
                </a:solidFill>
                <a:latin typeface="Cambria"/>
              </a:rPr>
              <a:t>88%</a:t>
            </a:r>
          </a:p>
        </p:txBody>
      </p:sp>
      <p:sp>
        <p:nvSpPr>
          <p:cNvPr id="17" name="TextBox 16"/>
          <p:cNvSpPr txBox="1"/>
          <p:nvPr/>
        </p:nvSpPr>
        <p:spPr>
          <a:xfrm>
            <a:off x="4800599" y="5029200"/>
            <a:ext cx="3017520" cy="731520"/>
          </a:xfrm>
          <a:prstGeom prst="rect">
            <a:avLst/>
          </a:prstGeom>
          <a:noFill/>
        </p:spPr>
        <p:txBody>
          <a:bodyPr wrap="square" anchor="t" lIns="0" rIns="0" tIns="0" bIns="0">
            <a:spAutoFit/>
          </a:bodyPr>
          <a:lstStyle/>
          <a:p>
            <a:pPr algn="l">
              <a:spcAft>
                <a:spcPts val="630"/>
              </a:spcAft>
            </a:pPr>
            <a:r>
              <a:rPr sz="1400" b="0" i="0">
                <a:solidFill>
                  <a:srgbClr val="5A5A55"/>
                </a:solidFill>
                <a:latin typeface="Calibri"/>
              </a:rPr>
              <a:t>known species still correct</a:t>
            </a:r>
          </a:p>
        </p:txBody>
      </p:sp>
      <p:sp>
        <p:nvSpPr>
          <p:cNvPr id="18" name="TextBox 17"/>
          <p:cNvSpPr txBox="1"/>
          <p:nvPr/>
        </p:nvSpPr>
        <p:spPr>
          <a:xfrm>
            <a:off x="8595360" y="1737360"/>
            <a:ext cx="3200400" cy="4023360"/>
          </a:xfrm>
          <a:prstGeom prst="rect">
            <a:avLst/>
          </a:prstGeom>
          <a:noFill/>
        </p:spPr>
        <p:txBody>
          <a:bodyPr wrap="square" anchor="t" lIns="0" rIns="0" tIns="0" bIns="0">
            <a:spAutoFit/>
          </a:bodyPr>
          <a:lstStyle/>
          <a:p>
            <a:pPr algn="l">
              <a:spcAft>
                <a:spcPts val="765"/>
              </a:spcAft>
            </a:pPr>
            <a:r>
              <a:rPr sz="1700" b="1" i="0">
                <a:solidFill>
                  <a:srgbClr val="0F3B40"/>
                </a:solidFill>
                <a:latin typeface="Calibri"/>
              </a:rPr>
              <a:t>The safety comes from the cut-off, </a:t>
            </a:r>
            <a:r>
              <a:rPr sz="1700" b="0" i="0">
                <a:solidFill>
                  <a:srgbClr val="1A1A1A"/>
                </a:solidFill>
                <a:latin typeface="Calibri"/>
              </a:rPr>
              <a:t>not from machine learning itself.</a:t>
            </a:r>
          </a:p>
          <a:p>
            <a:pPr algn="l">
              <a:spcAft>
                <a:spcPts val="765"/>
              </a:spcAft>
            </a:pPr>
            <a:r>
              <a:rPr sz="1700" b="1" i="0">
                <a:solidFill>
                  <a:srgbClr val="0F3B40"/>
                </a:solidFill>
                <a:latin typeface="Calibri"/>
              </a:rPr>
              <a:t>What k-NN adds: </a:t>
            </a:r>
            <a:r>
              <a:rPr sz="1700" b="0" i="0">
                <a:solidFill>
                  <a:srgbClr val="1A1A1A"/>
                </a:solidFill>
                <a:latin typeface="Calibri"/>
              </a:rPr>
              <a:t>far fewer losses on known species: its vote among five neighbours resolves near-ties that the plain distance rule calls 'ambiguous'.</a:t>
            </a:r>
          </a:p>
          <a:p>
            <a:pPr algn="l">
              <a:spcAft>
                <a:spcPts val="765"/>
              </a:spcAft>
            </a:pPr>
            <a:r>
              <a:rPr sz="1300" b="0" i="1">
                <a:solidFill>
                  <a:srgbClr val="5A5A55"/>
                </a:solidFill>
                <a:latin typeface="Calibri"/>
              </a:rPr>
              <a:t>Condition B, main run.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277295" y="6400800"/>
            <a:ext cx="457200" cy="274320"/>
          </a:xfrm>
          <a:prstGeom prst="rect">
            <a:avLst/>
          </a:prstGeom>
          <a:noFill/>
        </p:spPr>
        <p:txBody>
          <a:bodyPr wrap="square" anchor="t" lIns="0" rIns="0" tIns="0" bIns="0">
            <a:spAutoFit/>
          </a:bodyPr>
          <a:lstStyle/>
          <a:p>
            <a:pPr algn="r">
              <a:spcAft>
                <a:spcPts val="450"/>
              </a:spcAft>
            </a:pPr>
            <a:r>
              <a:rPr sz="1000" b="0" i="0">
                <a:solidFill>
                  <a:srgbClr val="5A5A55"/>
                </a:solidFill>
                <a:latin typeface="Calibri"/>
              </a:rPr>
              <a:t>11</a:t>
            </a:r>
          </a:p>
        </p:txBody>
      </p:sp>
      <p:sp>
        <p:nvSpPr>
          <p:cNvPr id="3" name="TextBox 2"/>
          <p:cNvSpPr txBox="1"/>
          <p:nvPr/>
        </p:nvSpPr>
        <p:spPr>
          <a:xfrm>
            <a:off x="548640" y="411480"/>
            <a:ext cx="11094415" cy="822960"/>
          </a:xfrm>
          <a:prstGeom prst="rect">
            <a:avLst/>
          </a:prstGeom>
          <a:noFill/>
        </p:spPr>
        <p:txBody>
          <a:bodyPr wrap="square" anchor="t" lIns="0" rIns="0" tIns="0" bIns="0">
            <a:spAutoFit/>
          </a:bodyPr>
          <a:lstStyle/>
          <a:p>
            <a:pPr algn="l">
              <a:spcAft>
                <a:spcPts val="1530"/>
              </a:spcAft>
            </a:pPr>
            <a:r>
              <a:rPr sz="3400" b="1" i="0">
                <a:solidFill>
                  <a:srgbClr val="0F3B40"/>
                </a:solidFill>
                <a:latin typeface="Cambria"/>
              </a:rPr>
              <a:t>Speed: about 260 times faster</a:t>
            </a:r>
          </a:p>
        </p:txBody>
      </p:sp>
      <p:pic>
        <p:nvPicPr>
          <p:cNvPr id="4" name="Picture 3" descr="runtime.png"/>
          <p:cNvPicPr>
            <a:picLocks noChangeAspect="1"/>
          </p:cNvPicPr>
          <p:nvPr/>
        </p:nvPicPr>
        <p:blipFill>
          <a:blip r:embed="rId3"/>
          <a:stretch>
            <a:fillRect/>
          </a:stretch>
        </p:blipFill>
        <p:spPr>
          <a:xfrm>
            <a:off x="457200" y="1371600"/>
            <a:ext cx="7315200" cy="4598125"/>
          </a:xfrm>
          <a:prstGeom prst="rect">
            <a:avLst/>
          </a:prstGeom>
        </p:spPr>
      </p:pic>
      <p:sp>
        <p:nvSpPr>
          <p:cNvPr id="5" name="TextBox 4"/>
          <p:cNvSpPr txBox="1"/>
          <p:nvPr/>
        </p:nvSpPr>
        <p:spPr>
          <a:xfrm>
            <a:off x="8229600" y="1554480"/>
            <a:ext cx="3566160" cy="868680"/>
          </a:xfrm>
          <a:prstGeom prst="rect">
            <a:avLst/>
          </a:prstGeom>
          <a:noFill/>
        </p:spPr>
        <p:txBody>
          <a:bodyPr wrap="square" anchor="t" lIns="0" rIns="0" tIns="0" bIns="0">
            <a:spAutoFit/>
          </a:bodyPr>
          <a:lstStyle/>
          <a:p>
            <a:pPr algn="l">
              <a:spcAft>
                <a:spcPts val="2700"/>
              </a:spcAft>
            </a:pPr>
            <a:r>
              <a:rPr sz="6000" b="1" i="0">
                <a:solidFill>
                  <a:srgbClr val="E09F1F"/>
                </a:solidFill>
                <a:latin typeface="Cambria"/>
              </a:rPr>
              <a:t>264×</a:t>
            </a:r>
          </a:p>
        </p:txBody>
      </p:sp>
      <p:sp>
        <p:nvSpPr>
          <p:cNvPr id="6" name="TextBox 5"/>
          <p:cNvSpPr txBox="1"/>
          <p:nvPr/>
        </p:nvSpPr>
        <p:spPr>
          <a:xfrm>
            <a:off x="8229600" y="2423160"/>
            <a:ext cx="3566160" cy="731520"/>
          </a:xfrm>
          <a:prstGeom prst="rect">
            <a:avLst/>
          </a:prstGeom>
          <a:noFill/>
        </p:spPr>
        <p:txBody>
          <a:bodyPr wrap="square" anchor="t" lIns="0" rIns="0" tIns="0" bIns="0">
            <a:spAutoFit/>
          </a:bodyPr>
          <a:lstStyle/>
          <a:p>
            <a:pPr algn="l">
              <a:spcAft>
                <a:spcPts val="630"/>
              </a:spcAft>
            </a:pPr>
            <a:r>
              <a:rPr sz="1400" b="0" i="0">
                <a:solidFill>
                  <a:srgbClr val="5A5A55"/>
                </a:solidFill>
                <a:latin typeface="Calibri"/>
              </a:rPr>
              <a:t>faster per query:
k-NN vs the NJ tree</a:t>
            </a:r>
          </a:p>
        </p:txBody>
      </p:sp>
      <p:sp>
        <p:nvSpPr>
          <p:cNvPr id="7" name="TextBox 6"/>
          <p:cNvSpPr txBox="1"/>
          <p:nvPr/>
        </p:nvSpPr>
        <p:spPr>
          <a:xfrm>
            <a:off x="8229600" y="3429000"/>
            <a:ext cx="3566160" cy="2377440"/>
          </a:xfrm>
          <a:prstGeom prst="rect">
            <a:avLst/>
          </a:prstGeom>
          <a:noFill/>
        </p:spPr>
        <p:txBody>
          <a:bodyPr wrap="square" anchor="t" lIns="0" rIns="0" tIns="0" bIns="0">
            <a:spAutoFit/>
          </a:bodyPr>
          <a:lstStyle/>
          <a:p>
            <a:pPr algn="l">
              <a:spcAft>
                <a:spcPts val="720"/>
              </a:spcAft>
            </a:pPr>
            <a:r>
              <a:rPr sz="1600" b="0" i="0">
                <a:solidFill>
                  <a:srgbClr val="1A1A1A"/>
                </a:solidFill>
                <a:latin typeface="Calibri"/>
              </a:rPr>
              <a:t>NJ: 868 ms per query, and the whole tree must be rebuilt for new queries.</a:t>
            </a:r>
          </a:p>
          <a:p>
            <a:pPr algn="l">
              <a:spcAft>
                <a:spcPts val="720"/>
              </a:spcAft>
            </a:pPr>
            <a:r>
              <a:rPr sz="1600" b="0" i="0">
                <a:solidFill>
                  <a:srgbClr val="1A1A1A"/>
                </a:solidFill>
                <a:latin typeface="Calibri"/>
              </a:rPr>
              <a:t>k-NN: 3.3 ms per query after ~1 second of training.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277295" y="6400800"/>
            <a:ext cx="457200" cy="274320"/>
          </a:xfrm>
          <a:prstGeom prst="rect">
            <a:avLst/>
          </a:prstGeom>
          <a:noFill/>
        </p:spPr>
        <p:txBody>
          <a:bodyPr wrap="square" anchor="t" lIns="0" rIns="0" tIns="0" bIns="0">
            <a:spAutoFit/>
          </a:bodyPr>
          <a:lstStyle/>
          <a:p>
            <a:pPr algn="r">
              <a:spcAft>
                <a:spcPts val="450"/>
              </a:spcAft>
            </a:pPr>
            <a:r>
              <a:rPr sz="1000" b="0" i="0">
                <a:solidFill>
                  <a:srgbClr val="5A5A55"/>
                </a:solidFill>
                <a:latin typeface="Calibri"/>
              </a:rPr>
              <a:t>12</a:t>
            </a:r>
          </a:p>
        </p:txBody>
      </p:sp>
      <p:sp>
        <p:nvSpPr>
          <p:cNvPr id="3" name="TextBox 2"/>
          <p:cNvSpPr txBox="1"/>
          <p:nvPr/>
        </p:nvSpPr>
        <p:spPr>
          <a:xfrm>
            <a:off x="548640" y="411480"/>
            <a:ext cx="11094415" cy="822960"/>
          </a:xfrm>
          <a:prstGeom prst="rect">
            <a:avLst/>
          </a:prstGeom>
          <a:noFill/>
        </p:spPr>
        <p:txBody>
          <a:bodyPr wrap="square" anchor="t" lIns="0" rIns="0" tIns="0" bIns="0">
            <a:spAutoFit/>
          </a:bodyPr>
          <a:lstStyle/>
          <a:p>
            <a:pPr algn="l">
              <a:spcAft>
                <a:spcPts val="1530"/>
              </a:spcAft>
            </a:pPr>
            <a:r>
              <a:rPr sz="3400" b="1" i="0">
                <a:solidFill>
                  <a:srgbClr val="0F3B40"/>
                </a:solidFill>
                <a:latin typeface="Cambria"/>
              </a:rPr>
              <a:t>Limitations</a:t>
            </a:r>
          </a:p>
        </p:txBody>
      </p:sp>
      <p:sp>
        <p:nvSpPr>
          <p:cNvPr id="4" name="Rounded Rectangle 3"/>
          <p:cNvSpPr/>
          <p:nvPr/>
        </p:nvSpPr>
        <p:spPr>
          <a:xfrm>
            <a:off x="548640" y="1554480"/>
            <a:ext cx="5349240" cy="1874519"/>
          </a:xfrm>
          <a:prstGeom prst="roundRect">
            <a:avLst>
              <a:gd name="adj" fmla="val 8000"/>
            </a:avLst>
          </a:prstGeom>
          <a:solidFill>
            <a:srgbClr val="E6F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68680" y="1874519"/>
            <a:ext cx="566928" cy="566928"/>
          </a:xfrm>
          <a:prstGeom prst="ellipse">
            <a:avLst/>
          </a:prstGeom>
          <a:solidFill>
            <a:srgbClr val="0F3B4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mbria"/>
              </a:rPr>
              <a:t>1</a:t>
            </a:r>
          </a:p>
        </p:txBody>
      </p:sp>
      <p:sp>
        <p:nvSpPr>
          <p:cNvPr id="6" name="TextBox 5"/>
          <p:cNvSpPr txBox="1"/>
          <p:nvPr/>
        </p:nvSpPr>
        <p:spPr>
          <a:xfrm>
            <a:off x="1691640" y="1874519"/>
            <a:ext cx="3931920" cy="457200"/>
          </a:xfrm>
          <a:prstGeom prst="rect">
            <a:avLst/>
          </a:prstGeom>
          <a:noFill/>
        </p:spPr>
        <p:txBody>
          <a:bodyPr wrap="square" anchor="t" lIns="0" rIns="0" tIns="0" bIns="0">
            <a:spAutoFit/>
          </a:bodyPr>
          <a:lstStyle/>
          <a:p>
            <a:pPr algn="l">
              <a:spcAft>
                <a:spcPts val="900"/>
              </a:spcAft>
            </a:pPr>
            <a:r>
              <a:rPr sz="2000" b="1" i="0">
                <a:solidFill>
                  <a:srgbClr val="0F3B40"/>
                </a:solidFill>
                <a:latin typeface="Calibri"/>
              </a:rPr>
              <a:t>One group, one gene</a:t>
            </a:r>
          </a:p>
        </p:txBody>
      </p:sp>
      <p:sp>
        <p:nvSpPr>
          <p:cNvPr id="7" name="TextBox 6"/>
          <p:cNvSpPr txBox="1"/>
          <p:nvPr/>
        </p:nvSpPr>
        <p:spPr>
          <a:xfrm>
            <a:off x="1691640" y="2423160"/>
            <a:ext cx="3931920" cy="914400"/>
          </a:xfrm>
          <a:prstGeom prst="rect">
            <a:avLst/>
          </a:prstGeom>
          <a:noFill/>
        </p:spPr>
        <p:txBody>
          <a:bodyPr wrap="square" anchor="t" lIns="0" rIns="0" tIns="0" bIns="0">
            <a:spAutoFit/>
          </a:bodyPr>
          <a:lstStyle/>
          <a:p>
            <a:pPr algn="l">
              <a:spcAft>
                <a:spcPts val="720"/>
              </a:spcAft>
            </a:pPr>
            <a:r>
              <a:rPr sz="1600" b="0" i="0">
                <a:solidFill>
                  <a:srgbClr val="1A1A1A"/>
                </a:solidFill>
                <a:latin typeface="Calibri"/>
              </a:rPr>
              <a:t>Two European Odonata families, COI only, BOLD data of 9 Oct 2026.</a:t>
            </a:r>
          </a:p>
        </p:txBody>
      </p:sp>
      <p:sp>
        <p:nvSpPr>
          <p:cNvPr id="8" name="Rounded Rectangle 7"/>
          <p:cNvSpPr/>
          <p:nvPr/>
        </p:nvSpPr>
        <p:spPr>
          <a:xfrm>
            <a:off x="6263640" y="1554480"/>
            <a:ext cx="5349240" cy="1874519"/>
          </a:xfrm>
          <a:prstGeom prst="roundRect">
            <a:avLst>
              <a:gd name="adj" fmla="val 8000"/>
            </a:avLst>
          </a:prstGeom>
          <a:solidFill>
            <a:srgbClr val="E6F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583679" y="1874519"/>
            <a:ext cx="566928" cy="566928"/>
          </a:xfrm>
          <a:prstGeom prst="ellipse">
            <a:avLst/>
          </a:prstGeom>
          <a:solidFill>
            <a:srgbClr val="0F3B4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mbria"/>
              </a:rPr>
              <a:t>2</a:t>
            </a:r>
          </a:p>
        </p:txBody>
      </p:sp>
      <p:sp>
        <p:nvSpPr>
          <p:cNvPr id="10" name="TextBox 9"/>
          <p:cNvSpPr txBox="1"/>
          <p:nvPr/>
        </p:nvSpPr>
        <p:spPr>
          <a:xfrm>
            <a:off x="7406640" y="1874519"/>
            <a:ext cx="3931920" cy="457200"/>
          </a:xfrm>
          <a:prstGeom prst="rect">
            <a:avLst/>
          </a:prstGeom>
          <a:noFill/>
        </p:spPr>
        <p:txBody>
          <a:bodyPr wrap="square" anchor="t" lIns="0" rIns="0" tIns="0" bIns="0">
            <a:spAutoFit/>
          </a:bodyPr>
          <a:lstStyle/>
          <a:p>
            <a:pPr algn="l">
              <a:spcAft>
                <a:spcPts val="900"/>
              </a:spcAft>
            </a:pPr>
            <a:r>
              <a:rPr sz="2000" b="1" i="0">
                <a:solidFill>
                  <a:srgbClr val="0F3B40"/>
                </a:solidFill>
                <a:latin typeface="Calibri"/>
              </a:rPr>
              <a:t>Small dataset</a:t>
            </a:r>
          </a:p>
        </p:txBody>
      </p:sp>
      <p:sp>
        <p:nvSpPr>
          <p:cNvPr id="11" name="TextBox 10"/>
          <p:cNvSpPr txBox="1"/>
          <p:nvPr/>
        </p:nvSpPr>
        <p:spPr>
          <a:xfrm>
            <a:off x="7406640" y="2423160"/>
            <a:ext cx="3931920" cy="914400"/>
          </a:xfrm>
          <a:prstGeom prst="rect">
            <a:avLst/>
          </a:prstGeom>
          <a:noFill/>
        </p:spPr>
        <p:txBody>
          <a:bodyPr wrap="square" anchor="t" lIns="0" rIns="0" tIns="0" bIns="0">
            <a:spAutoFit/>
          </a:bodyPr>
          <a:lstStyle/>
          <a:p>
            <a:pPr algn="l">
              <a:spcAft>
                <a:spcPts val="720"/>
              </a:spcAft>
            </a:pPr>
            <a:r>
              <a:rPr sz="1600" b="0" i="0">
                <a:solidFill>
                  <a:srgbClr val="1A1A1A"/>
                </a:solidFill>
                <a:latin typeface="Calibri"/>
              </a:rPr>
              <a:t>779 sequences of 45 species; some species have only 3.</a:t>
            </a:r>
          </a:p>
        </p:txBody>
      </p:sp>
      <p:sp>
        <p:nvSpPr>
          <p:cNvPr id="12" name="Rounded Rectangle 11"/>
          <p:cNvSpPr/>
          <p:nvPr/>
        </p:nvSpPr>
        <p:spPr>
          <a:xfrm>
            <a:off x="548640" y="3749039"/>
            <a:ext cx="5349240" cy="1874519"/>
          </a:xfrm>
          <a:prstGeom prst="roundRect">
            <a:avLst>
              <a:gd name="adj" fmla="val 8000"/>
            </a:avLst>
          </a:prstGeom>
          <a:solidFill>
            <a:srgbClr val="E6F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68680" y="4069079"/>
            <a:ext cx="566928" cy="566928"/>
          </a:xfrm>
          <a:prstGeom prst="ellipse">
            <a:avLst/>
          </a:prstGeom>
          <a:solidFill>
            <a:srgbClr val="0F3B4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mbria"/>
              </a:rPr>
              <a:t>3</a:t>
            </a:r>
          </a:p>
        </p:txBody>
      </p:sp>
      <p:sp>
        <p:nvSpPr>
          <p:cNvPr id="14" name="TextBox 13"/>
          <p:cNvSpPr txBox="1"/>
          <p:nvPr/>
        </p:nvSpPr>
        <p:spPr>
          <a:xfrm>
            <a:off x="1691640" y="4069079"/>
            <a:ext cx="3931920" cy="457200"/>
          </a:xfrm>
          <a:prstGeom prst="rect">
            <a:avLst/>
          </a:prstGeom>
          <a:noFill/>
        </p:spPr>
        <p:txBody>
          <a:bodyPr wrap="square" anchor="t" lIns="0" rIns="0" tIns="0" bIns="0">
            <a:spAutoFit/>
          </a:bodyPr>
          <a:lstStyle/>
          <a:p>
            <a:pPr algn="l">
              <a:spcAft>
                <a:spcPts val="900"/>
              </a:spcAft>
            </a:pPr>
            <a:r>
              <a:rPr sz="2000" b="1" i="0">
                <a:solidFill>
                  <a:srgbClr val="0F3B40"/>
                </a:solidFill>
                <a:latin typeface="Calibri"/>
              </a:rPr>
              <a:t>Barcode sharing</a:t>
            </a:r>
          </a:p>
        </p:txBody>
      </p:sp>
      <p:sp>
        <p:nvSpPr>
          <p:cNvPr id="15" name="TextBox 14"/>
          <p:cNvSpPr txBox="1"/>
          <p:nvPr/>
        </p:nvSpPr>
        <p:spPr>
          <a:xfrm>
            <a:off x="1691640" y="4617720"/>
            <a:ext cx="3931920" cy="914400"/>
          </a:xfrm>
          <a:prstGeom prst="rect">
            <a:avLst/>
          </a:prstGeom>
          <a:noFill/>
        </p:spPr>
        <p:txBody>
          <a:bodyPr wrap="square" anchor="t" lIns="0" rIns="0" tIns="0" bIns="0">
            <a:spAutoFit/>
          </a:bodyPr>
          <a:lstStyle/>
          <a:p>
            <a:pPr algn="l">
              <a:spcAft>
                <a:spcPts val="720"/>
              </a:spcAft>
            </a:pPr>
            <a:r>
              <a:rPr sz="1600" b="0" i="0">
                <a:solidFill>
                  <a:srgbClr val="1A1A1A"/>
                </a:solidFill>
                <a:latin typeface="Calibri"/>
              </a:rPr>
              <a:t>10 species can't be separated by any barcode-only method.</a:t>
            </a:r>
          </a:p>
        </p:txBody>
      </p:sp>
      <p:sp>
        <p:nvSpPr>
          <p:cNvPr id="16" name="Rounded Rectangle 15"/>
          <p:cNvSpPr/>
          <p:nvPr/>
        </p:nvSpPr>
        <p:spPr>
          <a:xfrm>
            <a:off x="6263640" y="3749039"/>
            <a:ext cx="5349240" cy="1874519"/>
          </a:xfrm>
          <a:prstGeom prst="roundRect">
            <a:avLst>
              <a:gd name="adj" fmla="val 8000"/>
            </a:avLst>
          </a:prstGeom>
          <a:solidFill>
            <a:srgbClr val="E6F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83679" y="4069079"/>
            <a:ext cx="566928" cy="566928"/>
          </a:xfrm>
          <a:prstGeom prst="ellipse">
            <a:avLst/>
          </a:prstGeom>
          <a:solidFill>
            <a:srgbClr val="0F3B4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mbria"/>
              </a:rPr>
              <a:t>4</a:t>
            </a:r>
          </a:p>
        </p:txBody>
      </p:sp>
      <p:sp>
        <p:nvSpPr>
          <p:cNvPr id="18" name="TextBox 17"/>
          <p:cNvSpPr txBox="1"/>
          <p:nvPr/>
        </p:nvSpPr>
        <p:spPr>
          <a:xfrm>
            <a:off x="7406640" y="4069079"/>
            <a:ext cx="3931920" cy="457200"/>
          </a:xfrm>
          <a:prstGeom prst="rect">
            <a:avLst/>
          </a:prstGeom>
          <a:noFill/>
        </p:spPr>
        <p:txBody>
          <a:bodyPr wrap="square" anchor="t" lIns="0" rIns="0" tIns="0" bIns="0">
            <a:spAutoFit/>
          </a:bodyPr>
          <a:lstStyle/>
          <a:p>
            <a:pPr algn="l">
              <a:spcAft>
                <a:spcPts val="900"/>
              </a:spcAft>
            </a:pPr>
            <a:r>
              <a:rPr sz="2000" b="1" i="0">
                <a:solidFill>
                  <a:srgbClr val="0F3B40"/>
                </a:solidFill>
                <a:latin typeface="Calibri"/>
              </a:rPr>
              <a:t>Tree not fully like-for-like</a:t>
            </a:r>
          </a:p>
        </p:txBody>
      </p:sp>
      <p:sp>
        <p:nvSpPr>
          <p:cNvPr id="19" name="TextBox 18"/>
          <p:cNvSpPr txBox="1"/>
          <p:nvPr/>
        </p:nvSpPr>
        <p:spPr>
          <a:xfrm>
            <a:off x="7406640" y="4617720"/>
            <a:ext cx="3931920" cy="914400"/>
          </a:xfrm>
          <a:prstGeom prst="rect">
            <a:avLst/>
          </a:prstGeom>
          <a:noFill/>
        </p:spPr>
        <p:txBody>
          <a:bodyPr wrap="square" anchor="t" lIns="0" rIns="0" tIns="0" bIns="0">
            <a:spAutoFit/>
          </a:bodyPr>
          <a:lstStyle/>
          <a:p>
            <a:pPr algn="l">
              <a:spcAft>
                <a:spcPts val="720"/>
              </a:spcAft>
            </a:pPr>
            <a:r>
              <a:rPr sz="1600" b="0" i="0">
                <a:solidFill>
                  <a:srgbClr val="1A1A1A"/>
                </a:solidFill>
                <a:latin typeface="Calibri"/>
              </a:rPr>
              <a:t>NJ had no extra 'unknown' threshold; one tree for all queries.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3B40"/>
        </a:solidFill>
        <a:effectLst/>
      </p:bgPr>
    </p:bg>
    <p:spTree>
      <p:nvGrpSpPr>
        <p:cNvPr id="1" name=""/>
        <p:cNvGrpSpPr/>
        <p:nvPr/>
      </p:nvGrpSpPr>
      <p:grpSpPr/>
      <p:sp>
        <p:nvSpPr>
          <p:cNvPr id="2" name="TextBox 1"/>
          <p:cNvSpPr txBox="1"/>
          <p:nvPr/>
        </p:nvSpPr>
        <p:spPr>
          <a:xfrm>
            <a:off x="11277295" y="6400800"/>
            <a:ext cx="457200" cy="274320"/>
          </a:xfrm>
          <a:prstGeom prst="rect">
            <a:avLst/>
          </a:prstGeom>
          <a:noFill/>
        </p:spPr>
        <p:txBody>
          <a:bodyPr wrap="square" anchor="t" lIns="0" rIns="0" tIns="0" bIns="0">
            <a:spAutoFit/>
          </a:bodyPr>
          <a:lstStyle/>
          <a:p>
            <a:pPr algn="r">
              <a:spcAft>
                <a:spcPts val="450"/>
              </a:spcAft>
            </a:pPr>
            <a:r>
              <a:rPr sz="1000" b="0" i="0">
                <a:solidFill>
                  <a:srgbClr val="FFFFFF"/>
                </a:solidFill>
                <a:latin typeface="Calibri"/>
              </a:rPr>
              <a:t>13</a:t>
            </a:r>
          </a:p>
        </p:txBody>
      </p:sp>
      <p:sp>
        <p:nvSpPr>
          <p:cNvPr id="3" name="TextBox 2"/>
          <p:cNvSpPr txBox="1"/>
          <p:nvPr/>
        </p:nvSpPr>
        <p:spPr>
          <a:xfrm>
            <a:off x="822960" y="640080"/>
            <a:ext cx="10058400" cy="822960"/>
          </a:xfrm>
          <a:prstGeom prst="rect">
            <a:avLst/>
          </a:prstGeom>
          <a:noFill/>
        </p:spPr>
        <p:txBody>
          <a:bodyPr wrap="square" anchor="t" lIns="0" rIns="0" tIns="0" bIns="0">
            <a:spAutoFit/>
          </a:bodyPr>
          <a:lstStyle/>
          <a:p>
            <a:pPr algn="l">
              <a:spcAft>
                <a:spcPts val="1530"/>
              </a:spcAft>
            </a:pPr>
            <a:r>
              <a:rPr sz="3400" b="1" i="0">
                <a:solidFill>
                  <a:srgbClr val="E09F1F"/>
                </a:solidFill>
                <a:latin typeface="Cambria"/>
              </a:rPr>
              <a:t>Conclusion</a:t>
            </a:r>
          </a:p>
        </p:txBody>
      </p:sp>
      <p:sp>
        <p:nvSpPr>
          <p:cNvPr id="4" name="TextBox 3"/>
          <p:cNvSpPr txBox="1"/>
          <p:nvPr/>
        </p:nvSpPr>
        <p:spPr>
          <a:xfrm>
            <a:off x="822960" y="1600200"/>
            <a:ext cx="10515600" cy="1828800"/>
          </a:xfrm>
          <a:prstGeom prst="rect">
            <a:avLst/>
          </a:prstGeom>
          <a:noFill/>
        </p:spPr>
        <p:txBody>
          <a:bodyPr wrap="square" anchor="t" lIns="0" rIns="0" tIns="0" bIns="0">
            <a:spAutoFit/>
          </a:bodyPr>
          <a:lstStyle/>
          <a:p>
            <a:pPr algn="l">
              <a:spcAft>
                <a:spcPts val="1260"/>
              </a:spcAft>
            </a:pPr>
            <a:r>
              <a:rPr sz="2800" b="0" i="0">
                <a:solidFill>
                  <a:srgbClr val="FFFFFF"/>
                </a:solidFill>
                <a:latin typeface="Cambria"/>
              </a:rPr>
              <a:t>Machine learning matched the tree on known species </a:t>
            </a:r>
            <a:r>
              <a:rPr sz="2800" b="1" i="0">
                <a:solidFill>
                  <a:srgbClr val="FFFFFF"/>
                </a:solidFill>
                <a:latin typeface="Cambria"/>
              </a:rPr>
              <a:t>(93% vs 92%) </a:t>
            </a:r>
            <a:r>
              <a:rPr sz="2800" b="0" i="0">
                <a:solidFill>
                  <a:srgbClr val="FFFFFF"/>
                </a:solidFill>
                <a:latin typeface="Cambria"/>
              </a:rPr>
              <a:t>but wrongly named unknown species over four times less often </a:t>
            </a:r>
            <a:r>
              <a:rPr sz="2800" b="1" i="0">
                <a:solidFill>
                  <a:srgbClr val="FFFFFF"/>
                </a:solidFill>
                <a:latin typeface="Cambria"/>
              </a:rPr>
              <a:t>(14% vs 67%, 39 species) </a:t>
            </a:r>
            <a:r>
              <a:rPr sz="2800" b="0" i="0">
                <a:solidFill>
                  <a:srgbClr val="FFFFFF"/>
                </a:solidFill>
                <a:latin typeface="Cambria"/>
              </a:rPr>
              <a:t>and was </a:t>
            </a:r>
            <a:r>
              <a:rPr sz="2800" b="1" i="0">
                <a:solidFill>
                  <a:srgbClr val="FFFFFF"/>
                </a:solidFill>
                <a:latin typeface="Cambria"/>
              </a:rPr>
              <a:t>~264× faster.</a:t>
            </a:r>
          </a:p>
        </p:txBody>
      </p:sp>
      <p:sp>
        <p:nvSpPr>
          <p:cNvPr id="5" name="TextBox 4"/>
          <p:cNvSpPr txBox="1"/>
          <p:nvPr/>
        </p:nvSpPr>
        <p:spPr>
          <a:xfrm>
            <a:off x="822960" y="3931920"/>
            <a:ext cx="10515600" cy="1463040"/>
          </a:xfrm>
          <a:prstGeom prst="rect">
            <a:avLst/>
          </a:prstGeom>
          <a:noFill/>
        </p:spPr>
        <p:txBody>
          <a:bodyPr wrap="square" anchor="t" lIns="0" rIns="0" tIns="0" bIns="0">
            <a:spAutoFit/>
          </a:bodyPr>
          <a:lstStyle/>
          <a:p>
            <a:pPr algn="l">
              <a:spcAft>
                <a:spcPts val="810"/>
              </a:spcAft>
            </a:pPr>
            <a:r>
              <a:rPr sz="1800" b="0" i="0">
                <a:solidFill>
                  <a:srgbClr val="FFFFFF"/>
                </a:solidFill>
                <a:latin typeface="Calibri"/>
              </a:rPr>
              <a:t>Use a distance-aware method with a calibrated 'unknown' threshold, not a species name read off a tree.</a:t>
            </a:r>
          </a:p>
          <a:p>
            <a:pPr algn="l">
              <a:spcAft>
                <a:spcPts val="810"/>
              </a:spcAft>
            </a:pPr>
            <a:r>
              <a:rPr sz="1800" b="0" i="0">
                <a:solidFill>
                  <a:srgbClr val="FFFFFF"/>
                </a:solidFill>
                <a:latin typeface="Calibri"/>
              </a:rPr>
              <a:t>Report barcode-sharing groups at genus level: no barcode-only method separates them.</a:t>
            </a:r>
          </a:p>
        </p:txBody>
      </p:sp>
      <p:sp>
        <p:nvSpPr>
          <p:cNvPr id="6" name="TextBox 5"/>
          <p:cNvSpPr txBox="1"/>
          <p:nvPr/>
        </p:nvSpPr>
        <p:spPr>
          <a:xfrm>
            <a:off x="822960" y="5669280"/>
            <a:ext cx="5486400" cy="548640"/>
          </a:xfrm>
          <a:prstGeom prst="rect">
            <a:avLst/>
          </a:prstGeom>
          <a:noFill/>
        </p:spPr>
        <p:txBody>
          <a:bodyPr wrap="square" anchor="t" lIns="0" rIns="0" tIns="0" bIns="0">
            <a:spAutoFit/>
          </a:bodyPr>
          <a:lstStyle/>
          <a:p>
            <a:pPr algn="l">
              <a:spcAft>
                <a:spcPts val="990"/>
              </a:spcAft>
            </a:pPr>
            <a:r>
              <a:rPr sz="2200" b="1" i="0">
                <a:solidFill>
                  <a:srgbClr val="E09F1F"/>
                </a:solidFill>
                <a:latin typeface="Cambria"/>
              </a:rPr>
              <a:t>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